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5" r:id="rId6"/>
    <p:sldId id="266" r:id="rId7"/>
    <p:sldId id="269" r:id="rId8"/>
    <p:sldId id="270" r:id="rId9"/>
    <p:sldId id="271" r:id="rId10"/>
    <p:sldId id="260" r:id="rId11"/>
    <p:sldId id="261" r:id="rId12"/>
    <p:sldId id="262" r:id="rId13"/>
    <p:sldId id="263" r:id="rId14"/>
    <p:sldId id="264" r:id="rId15"/>
    <p:sldId id="267" r:id="rId16"/>
    <p:sldId id="268"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4" d="100"/>
          <a:sy n="64" d="100"/>
        </p:scale>
        <p:origin x="74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B2FBE-0DE6-8387-F79D-205D4E8152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A7F1331-971F-9584-77F6-6F300E163A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757DEC9-0643-8950-D84F-206A710B3E51}"/>
              </a:ext>
            </a:extLst>
          </p:cNvPr>
          <p:cNvSpPr>
            <a:spLocks noGrp="1"/>
          </p:cNvSpPr>
          <p:nvPr>
            <p:ph type="dt" sz="half" idx="10"/>
          </p:nvPr>
        </p:nvSpPr>
        <p:spPr/>
        <p:txBody>
          <a:bodyPr/>
          <a:lstStyle/>
          <a:p>
            <a:fld id="{5DFB1A9A-552C-4DDC-9C21-427FF3CBBBA7}" type="datetimeFigureOut">
              <a:rPr lang="en-US" smtClean="0"/>
              <a:t>2/28/2025</a:t>
            </a:fld>
            <a:endParaRPr lang="en-US"/>
          </a:p>
        </p:txBody>
      </p:sp>
      <p:sp>
        <p:nvSpPr>
          <p:cNvPr id="5" name="Footer Placeholder 4">
            <a:extLst>
              <a:ext uri="{FF2B5EF4-FFF2-40B4-BE49-F238E27FC236}">
                <a16:creationId xmlns:a16="http://schemas.microsoft.com/office/drawing/2014/main" id="{ACD76721-CDB4-A97F-DD18-B8B4FC9BB3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4689F8-5FBD-ED51-DE12-7F5BAF093D6E}"/>
              </a:ext>
            </a:extLst>
          </p:cNvPr>
          <p:cNvSpPr>
            <a:spLocks noGrp="1"/>
          </p:cNvSpPr>
          <p:nvPr>
            <p:ph type="sldNum" sz="quarter" idx="12"/>
          </p:nvPr>
        </p:nvSpPr>
        <p:spPr/>
        <p:txBody>
          <a:bodyPr/>
          <a:lstStyle/>
          <a:p>
            <a:fld id="{57C6E555-CAB7-4F80-9145-58CB8015DA68}" type="slidenum">
              <a:rPr lang="en-US" smtClean="0"/>
              <a:t>‹#›</a:t>
            </a:fld>
            <a:endParaRPr lang="en-US"/>
          </a:p>
        </p:txBody>
      </p:sp>
    </p:spTree>
    <p:extLst>
      <p:ext uri="{BB962C8B-B14F-4D97-AF65-F5344CB8AC3E}">
        <p14:creationId xmlns:p14="http://schemas.microsoft.com/office/powerpoint/2010/main" val="2997847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29E02-4225-EC1F-0FA4-8DDA323AE8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42C470-F528-F60B-BCDE-3E1736CF88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DEE9AC-0992-B15B-503F-7585AA6B1E93}"/>
              </a:ext>
            </a:extLst>
          </p:cNvPr>
          <p:cNvSpPr>
            <a:spLocks noGrp="1"/>
          </p:cNvSpPr>
          <p:nvPr>
            <p:ph type="dt" sz="half" idx="10"/>
          </p:nvPr>
        </p:nvSpPr>
        <p:spPr/>
        <p:txBody>
          <a:bodyPr/>
          <a:lstStyle/>
          <a:p>
            <a:fld id="{5DFB1A9A-552C-4DDC-9C21-427FF3CBBBA7}" type="datetimeFigureOut">
              <a:rPr lang="en-US" smtClean="0"/>
              <a:t>2/28/2025</a:t>
            </a:fld>
            <a:endParaRPr lang="en-US"/>
          </a:p>
        </p:txBody>
      </p:sp>
      <p:sp>
        <p:nvSpPr>
          <p:cNvPr id="5" name="Footer Placeholder 4">
            <a:extLst>
              <a:ext uri="{FF2B5EF4-FFF2-40B4-BE49-F238E27FC236}">
                <a16:creationId xmlns:a16="http://schemas.microsoft.com/office/drawing/2014/main" id="{A96C2A9F-20E8-6680-6B98-6B3F227E98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9CA501-96C5-FB25-453C-8D32AE737ED7}"/>
              </a:ext>
            </a:extLst>
          </p:cNvPr>
          <p:cNvSpPr>
            <a:spLocks noGrp="1"/>
          </p:cNvSpPr>
          <p:nvPr>
            <p:ph type="sldNum" sz="quarter" idx="12"/>
          </p:nvPr>
        </p:nvSpPr>
        <p:spPr/>
        <p:txBody>
          <a:bodyPr/>
          <a:lstStyle/>
          <a:p>
            <a:fld id="{57C6E555-CAB7-4F80-9145-58CB8015DA68}" type="slidenum">
              <a:rPr lang="en-US" smtClean="0"/>
              <a:t>‹#›</a:t>
            </a:fld>
            <a:endParaRPr lang="en-US"/>
          </a:p>
        </p:txBody>
      </p:sp>
    </p:spTree>
    <p:extLst>
      <p:ext uri="{BB962C8B-B14F-4D97-AF65-F5344CB8AC3E}">
        <p14:creationId xmlns:p14="http://schemas.microsoft.com/office/powerpoint/2010/main" val="2409187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27B76-6F8B-E359-72A3-10AAE4AC73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D00907F-4BB3-71AF-F22E-DA661AA842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F09D651-900A-0842-6522-BCEAC44CA485}"/>
              </a:ext>
            </a:extLst>
          </p:cNvPr>
          <p:cNvSpPr>
            <a:spLocks noGrp="1"/>
          </p:cNvSpPr>
          <p:nvPr>
            <p:ph type="dt" sz="half" idx="10"/>
          </p:nvPr>
        </p:nvSpPr>
        <p:spPr/>
        <p:txBody>
          <a:bodyPr/>
          <a:lstStyle/>
          <a:p>
            <a:fld id="{5DFB1A9A-552C-4DDC-9C21-427FF3CBBBA7}" type="datetimeFigureOut">
              <a:rPr lang="en-US" smtClean="0"/>
              <a:t>2/28/2025</a:t>
            </a:fld>
            <a:endParaRPr lang="en-US"/>
          </a:p>
        </p:txBody>
      </p:sp>
      <p:sp>
        <p:nvSpPr>
          <p:cNvPr id="5" name="Footer Placeholder 4">
            <a:extLst>
              <a:ext uri="{FF2B5EF4-FFF2-40B4-BE49-F238E27FC236}">
                <a16:creationId xmlns:a16="http://schemas.microsoft.com/office/drawing/2014/main" id="{FEBF5407-8E16-1BC9-7A4E-2ED7058590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D96416-096D-0AF4-9976-0CA9A290A93C}"/>
              </a:ext>
            </a:extLst>
          </p:cNvPr>
          <p:cNvSpPr>
            <a:spLocks noGrp="1"/>
          </p:cNvSpPr>
          <p:nvPr>
            <p:ph type="sldNum" sz="quarter" idx="12"/>
          </p:nvPr>
        </p:nvSpPr>
        <p:spPr/>
        <p:txBody>
          <a:bodyPr/>
          <a:lstStyle/>
          <a:p>
            <a:fld id="{57C6E555-CAB7-4F80-9145-58CB8015DA68}" type="slidenum">
              <a:rPr lang="en-US" smtClean="0"/>
              <a:t>‹#›</a:t>
            </a:fld>
            <a:endParaRPr lang="en-US"/>
          </a:p>
        </p:txBody>
      </p:sp>
    </p:spTree>
    <p:extLst>
      <p:ext uri="{BB962C8B-B14F-4D97-AF65-F5344CB8AC3E}">
        <p14:creationId xmlns:p14="http://schemas.microsoft.com/office/powerpoint/2010/main" val="3827048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209B6-767B-8858-3532-E80BCB8D8E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D14160-4DF5-DB03-24CC-F70D68361B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65E7CB4-F376-A8F4-9A01-03310776C54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69D5F89-2119-AE15-636F-6B04619F873F}"/>
              </a:ext>
            </a:extLst>
          </p:cNvPr>
          <p:cNvSpPr>
            <a:spLocks noGrp="1"/>
          </p:cNvSpPr>
          <p:nvPr>
            <p:ph type="dt" sz="half" idx="10"/>
          </p:nvPr>
        </p:nvSpPr>
        <p:spPr/>
        <p:txBody>
          <a:bodyPr/>
          <a:lstStyle/>
          <a:p>
            <a:fld id="{5DFB1A9A-552C-4DDC-9C21-427FF3CBBBA7}" type="datetimeFigureOut">
              <a:rPr lang="en-US" smtClean="0"/>
              <a:t>2/28/2025</a:t>
            </a:fld>
            <a:endParaRPr lang="en-US"/>
          </a:p>
        </p:txBody>
      </p:sp>
      <p:sp>
        <p:nvSpPr>
          <p:cNvPr id="6" name="Footer Placeholder 5">
            <a:extLst>
              <a:ext uri="{FF2B5EF4-FFF2-40B4-BE49-F238E27FC236}">
                <a16:creationId xmlns:a16="http://schemas.microsoft.com/office/drawing/2014/main" id="{78C1326B-AEBC-EB4E-364C-18304B0BC5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2A5E85-8673-10EF-7CD2-CAC67A775B5D}"/>
              </a:ext>
            </a:extLst>
          </p:cNvPr>
          <p:cNvSpPr>
            <a:spLocks noGrp="1"/>
          </p:cNvSpPr>
          <p:nvPr>
            <p:ph type="sldNum" sz="quarter" idx="12"/>
          </p:nvPr>
        </p:nvSpPr>
        <p:spPr/>
        <p:txBody>
          <a:bodyPr/>
          <a:lstStyle/>
          <a:p>
            <a:fld id="{57C6E555-CAB7-4F80-9145-58CB8015DA68}" type="slidenum">
              <a:rPr lang="en-US" smtClean="0"/>
              <a:t>‹#›</a:t>
            </a:fld>
            <a:endParaRPr lang="en-US"/>
          </a:p>
        </p:txBody>
      </p:sp>
    </p:spTree>
    <p:extLst>
      <p:ext uri="{BB962C8B-B14F-4D97-AF65-F5344CB8AC3E}">
        <p14:creationId xmlns:p14="http://schemas.microsoft.com/office/powerpoint/2010/main" val="3807466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D6858-6A10-98AF-3EBA-D917A0B482C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F04F2D-1B15-ACB0-DC8C-5C1DAC0484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75D23E-EA89-FA02-E182-9B5BFEE0A5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6BA5D3F-B6C0-2C42-7F73-040B00045E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AE491C-0C8C-0E16-65A0-FA52D4B0A7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625E03-39FB-5336-1B4F-5B301EEEBE13}"/>
              </a:ext>
            </a:extLst>
          </p:cNvPr>
          <p:cNvSpPr>
            <a:spLocks noGrp="1"/>
          </p:cNvSpPr>
          <p:nvPr>
            <p:ph type="dt" sz="half" idx="10"/>
          </p:nvPr>
        </p:nvSpPr>
        <p:spPr/>
        <p:txBody>
          <a:bodyPr/>
          <a:lstStyle/>
          <a:p>
            <a:fld id="{5DFB1A9A-552C-4DDC-9C21-427FF3CBBBA7}" type="datetimeFigureOut">
              <a:rPr lang="en-US" smtClean="0"/>
              <a:t>2/28/2025</a:t>
            </a:fld>
            <a:endParaRPr lang="en-US"/>
          </a:p>
        </p:txBody>
      </p:sp>
      <p:sp>
        <p:nvSpPr>
          <p:cNvPr id="8" name="Footer Placeholder 7">
            <a:extLst>
              <a:ext uri="{FF2B5EF4-FFF2-40B4-BE49-F238E27FC236}">
                <a16:creationId xmlns:a16="http://schemas.microsoft.com/office/drawing/2014/main" id="{3EF81066-0311-4228-8713-9C4BE61BE26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946D60E-EA3E-EFD1-37EB-8776D103851B}"/>
              </a:ext>
            </a:extLst>
          </p:cNvPr>
          <p:cNvSpPr>
            <a:spLocks noGrp="1"/>
          </p:cNvSpPr>
          <p:nvPr>
            <p:ph type="sldNum" sz="quarter" idx="12"/>
          </p:nvPr>
        </p:nvSpPr>
        <p:spPr/>
        <p:txBody>
          <a:bodyPr/>
          <a:lstStyle/>
          <a:p>
            <a:fld id="{57C6E555-CAB7-4F80-9145-58CB8015DA68}" type="slidenum">
              <a:rPr lang="en-US" smtClean="0"/>
              <a:t>‹#›</a:t>
            </a:fld>
            <a:endParaRPr lang="en-US"/>
          </a:p>
        </p:txBody>
      </p:sp>
    </p:spTree>
    <p:extLst>
      <p:ext uri="{BB962C8B-B14F-4D97-AF65-F5344CB8AC3E}">
        <p14:creationId xmlns:p14="http://schemas.microsoft.com/office/powerpoint/2010/main" val="10140827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14D8F-EC2E-F339-C004-12D896A1ACB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3A14953-DC46-8934-6999-6778DD7863DE}"/>
              </a:ext>
            </a:extLst>
          </p:cNvPr>
          <p:cNvSpPr>
            <a:spLocks noGrp="1"/>
          </p:cNvSpPr>
          <p:nvPr>
            <p:ph type="dt" sz="half" idx="10"/>
          </p:nvPr>
        </p:nvSpPr>
        <p:spPr/>
        <p:txBody>
          <a:bodyPr/>
          <a:lstStyle/>
          <a:p>
            <a:fld id="{5DFB1A9A-552C-4DDC-9C21-427FF3CBBBA7}" type="datetimeFigureOut">
              <a:rPr lang="en-US" smtClean="0"/>
              <a:t>2/28/2025</a:t>
            </a:fld>
            <a:endParaRPr lang="en-US"/>
          </a:p>
        </p:txBody>
      </p:sp>
      <p:sp>
        <p:nvSpPr>
          <p:cNvPr id="4" name="Footer Placeholder 3">
            <a:extLst>
              <a:ext uri="{FF2B5EF4-FFF2-40B4-BE49-F238E27FC236}">
                <a16:creationId xmlns:a16="http://schemas.microsoft.com/office/drawing/2014/main" id="{984A54C8-26B0-81FD-7208-F3CB5A14CA8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E24702B-B157-B9DB-CF5F-B90ABE0A2E1D}"/>
              </a:ext>
            </a:extLst>
          </p:cNvPr>
          <p:cNvSpPr>
            <a:spLocks noGrp="1"/>
          </p:cNvSpPr>
          <p:nvPr>
            <p:ph type="sldNum" sz="quarter" idx="12"/>
          </p:nvPr>
        </p:nvSpPr>
        <p:spPr/>
        <p:txBody>
          <a:bodyPr/>
          <a:lstStyle/>
          <a:p>
            <a:fld id="{57C6E555-CAB7-4F80-9145-58CB8015DA68}" type="slidenum">
              <a:rPr lang="en-US" smtClean="0"/>
              <a:t>‹#›</a:t>
            </a:fld>
            <a:endParaRPr lang="en-US"/>
          </a:p>
        </p:txBody>
      </p:sp>
    </p:spTree>
    <p:extLst>
      <p:ext uri="{BB962C8B-B14F-4D97-AF65-F5344CB8AC3E}">
        <p14:creationId xmlns:p14="http://schemas.microsoft.com/office/powerpoint/2010/main" val="3449773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1E7F7D-DF23-E65B-CE0E-78E3048B2719}"/>
              </a:ext>
            </a:extLst>
          </p:cNvPr>
          <p:cNvSpPr>
            <a:spLocks noGrp="1"/>
          </p:cNvSpPr>
          <p:nvPr>
            <p:ph type="dt" sz="half" idx="10"/>
          </p:nvPr>
        </p:nvSpPr>
        <p:spPr/>
        <p:txBody>
          <a:bodyPr/>
          <a:lstStyle/>
          <a:p>
            <a:fld id="{5DFB1A9A-552C-4DDC-9C21-427FF3CBBBA7}" type="datetimeFigureOut">
              <a:rPr lang="en-US" smtClean="0"/>
              <a:t>2/28/2025</a:t>
            </a:fld>
            <a:endParaRPr lang="en-US"/>
          </a:p>
        </p:txBody>
      </p:sp>
      <p:sp>
        <p:nvSpPr>
          <p:cNvPr id="3" name="Footer Placeholder 2">
            <a:extLst>
              <a:ext uri="{FF2B5EF4-FFF2-40B4-BE49-F238E27FC236}">
                <a16:creationId xmlns:a16="http://schemas.microsoft.com/office/drawing/2014/main" id="{F667AA6B-A809-1749-CFBB-E3747BE31F3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DDA390-C78F-D090-C8C9-FBE408365078}"/>
              </a:ext>
            </a:extLst>
          </p:cNvPr>
          <p:cNvSpPr>
            <a:spLocks noGrp="1"/>
          </p:cNvSpPr>
          <p:nvPr>
            <p:ph type="sldNum" sz="quarter" idx="12"/>
          </p:nvPr>
        </p:nvSpPr>
        <p:spPr/>
        <p:txBody>
          <a:bodyPr/>
          <a:lstStyle/>
          <a:p>
            <a:fld id="{57C6E555-CAB7-4F80-9145-58CB8015DA68}" type="slidenum">
              <a:rPr lang="en-US" smtClean="0"/>
              <a:t>‹#›</a:t>
            </a:fld>
            <a:endParaRPr lang="en-US"/>
          </a:p>
        </p:txBody>
      </p:sp>
    </p:spTree>
    <p:extLst>
      <p:ext uri="{BB962C8B-B14F-4D97-AF65-F5344CB8AC3E}">
        <p14:creationId xmlns:p14="http://schemas.microsoft.com/office/powerpoint/2010/main" val="27294783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DC502-F380-6545-13ED-95A65E014F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35F71C8-1D75-8E7B-A03B-E22F45F40D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4FEA9E-FEFF-BE45-F6ED-074D84462F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D328A9-EADD-0BE1-9C46-6A5BE5FF054B}"/>
              </a:ext>
            </a:extLst>
          </p:cNvPr>
          <p:cNvSpPr>
            <a:spLocks noGrp="1"/>
          </p:cNvSpPr>
          <p:nvPr>
            <p:ph type="dt" sz="half" idx="10"/>
          </p:nvPr>
        </p:nvSpPr>
        <p:spPr/>
        <p:txBody>
          <a:bodyPr/>
          <a:lstStyle/>
          <a:p>
            <a:fld id="{5DFB1A9A-552C-4DDC-9C21-427FF3CBBBA7}" type="datetimeFigureOut">
              <a:rPr lang="en-US" smtClean="0"/>
              <a:t>2/28/2025</a:t>
            </a:fld>
            <a:endParaRPr lang="en-US"/>
          </a:p>
        </p:txBody>
      </p:sp>
      <p:sp>
        <p:nvSpPr>
          <p:cNvPr id="6" name="Footer Placeholder 5">
            <a:extLst>
              <a:ext uri="{FF2B5EF4-FFF2-40B4-BE49-F238E27FC236}">
                <a16:creationId xmlns:a16="http://schemas.microsoft.com/office/drawing/2014/main" id="{4DD2DE08-09DF-B1EA-D3E8-FB704672BD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393758-C8F3-497F-E1CE-93563DDAB20B}"/>
              </a:ext>
            </a:extLst>
          </p:cNvPr>
          <p:cNvSpPr>
            <a:spLocks noGrp="1"/>
          </p:cNvSpPr>
          <p:nvPr>
            <p:ph type="sldNum" sz="quarter" idx="12"/>
          </p:nvPr>
        </p:nvSpPr>
        <p:spPr/>
        <p:txBody>
          <a:bodyPr/>
          <a:lstStyle/>
          <a:p>
            <a:fld id="{57C6E555-CAB7-4F80-9145-58CB8015DA68}" type="slidenum">
              <a:rPr lang="en-US" smtClean="0"/>
              <a:t>‹#›</a:t>
            </a:fld>
            <a:endParaRPr lang="en-US"/>
          </a:p>
        </p:txBody>
      </p:sp>
    </p:spTree>
    <p:extLst>
      <p:ext uri="{BB962C8B-B14F-4D97-AF65-F5344CB8AC3E}">
        <p14:creationId xmlns:p14="http://schemas.microsoft.com/office/powerpoint/2010/main" val="2537070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F8A85-D931-DCE2-E87E-57102427B6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07A4FDA-E9D4-1CD0-A3E1-CDD0F3D568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E0F9B2D-5D06-84C3-9CC7-F31B8F370F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6AD662-7CF9-0A88-D1C4-6C7C791B19D1}"/>
              </a:ext>
            </a:extLst>
          </p:cNvPr>
          <p:cNvSpPr>
            <a:spLocks noGrp="1"/>
          </p:cNvSpPr>
          <p:nvPr>
            <p:ph type="dt" sz="half" idx="10"/>
          </p:nvPr>
        </p:nvSpPr>
        <p:spPr/>
        <p:txBody>
          <a:bodyPr/>
          <a:lstStyle/>
          <a:p>
            <a:fld id="{5DFB1A9A-552C-4DDC-9C21-427FF3CBBBA7}" type="datetimeFigureOut">
              <a:rPr lang="en-US" smtClean="0"/>
              <a:t>2/28/2025</a:t>
            </a:fld>
            <a:endParaRPr lang="en-US"/>
          </a:p>
        </p:txBody>
      </p:sp>
      <p:sp>
        <p:nvSpPr>
          <p:cNvPr id="6" name="Footer Placeholder 5">
            <a:extLst>
              <a:ext uri="{FF2B5EF4-FFF2-40B4-BE49-F238E27FC236}">
                <a16:creationId xmlns:a16="http://schemas.microsoft.com/office/drawing/2014/main" id="{6C985130-00B6-97FF-521D-F97CB48950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80F615-29FA-D3E9-C68B-1E2439D66629}"/>
              </a:ext>
            </a:extLst>
          </p:cNvPr>
          <p:cNvSpPr>
            <a:spLocks noGrp="1"/>
          </p:cNvSpPr>
          <p:nvPr>
            <p:ph type="sldNum" sz="quarter" idx="12"/>
          </p:nvPr>
        </p:nvSpPr>
        <p:spPr/>
        <p:txBody>
          <a:bodyPr/>
          <a:lstStyle/>
          <a:p>
            <a:fld id="{57C6E555-CAB7-4F80-9145-58CB8015DA68}" type="slidenum">
              <a:rPr lang="en-US" smtClean="0"/>
              <a:t>‹#›</a:t>
            </a:fld>
            <a:endParaRPr lang="en-US"/>
          </a:p>
        </p:txBody>
      </p:sp>
    </p:spTree>
    <p:extLst>
      <p:ext uri="{BB962C8B-B14F-4D97-AF65-F5344CB8AC3E}">
        <p14:creationId xmlns:p14="http://schemas.microsoft.com/office/powerpoint/2010/main" val="1451915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2F90A-1A56-5712-D44B-A6F701EE8FA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4A70F6-2CF3-F86D-BA57-5AF222FE21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F89A5B-F4DC-ED0D-9168-2A406D79C8FD}"/>
              </a:ext>
            </a:extLst>
          </p:cNvPr>
          <p:cNvSpPr>
            <a:spLocks noGrp="1"/>
          </p:cNvSpPr>
          <p:nvPr>
            <p:ph type="dt" sz="half" idx="10"/>
          </p:nvPr>
        </p:nvSpPr>
        <p:spPr/>
        <p:txBody>
          <a:bodyPr/>
          <a:lstStyle/>
          <a:p>
            <a:fld id="{5DFB1A9A-552C-4DDC-9C21-427FF3CBBBA7}" type="datetimeFigureOut">
              <a:rPr lang="en-US" smtClean="0"/>
              <a:t>2/28/2025</a:t>
            </a:fld>
            <a:endParaRPr lang="en-US"/>
          </a:p>
        </p:txBody>
      </p:sp>
      <p:sp>
        <p:nvSpPr>
          <p:cNvPr id="5" name="Footer Placeholder 4">
            <a:extLst>
              <a:ext uri="{FF2B5EF4-FFF2-40B4-BE49-F238E27FC236}">
                <a16:creationId xmlns:a16="http://schemas.microsoft.com/office/drawing/2014/main" id="{53701B56-8362-0F38-FC2E-565701CC73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B07E89-5291-BF66-6D8F-D8475C122360}"/>
              </a:ext>
            </a:extLst>
          </p:cNvPr>
          <p:cNvSpPr>
            <a:spLocks noGrp="1"/>
          </p:cNvSpPr>
          <p:nvPr>
            <p:ph type="sldNum" sz="quarter" idx="12"/>
          </p:nvPr>
        </p:nvSpPr>
        <p:spPr/>
        <p:txBody>
          <a:bodyPr/>
          <a:lstStyle/>
          <a:p>
            <a:fld id="{57C6E555-CAB7-4F80-9145-58CB8015DA68}" type="slidenum">
              <a:rPr lang="en-US" smtClean="0"/>
              <a:t>‹#›</a:t>
            </a:fld>
            <a:endParaRPr lang="en-US"/>
          </a:p>
        </p:txBody>
      </p:sp>
    </p:spTree>
    <p:extLst>
      <p:ext uri="{BB962C8B-B14F-4D97-AF65-F5344CB8AC3E}">
        <p14:creationId xmlns:p14="http://schemas.microsoft.com/office/powerpoint/2010/main" val="2978457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F1798F-9C00-9066-CBD7-2106F750224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F5C013B-9458-E566-3BAB-77D75A8735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D2626C-0AC2-017A-3C23-22ADEC04AD4B}"/>
              </a:ext>
            </a:extLst>
          </p:cNvPr>
          <p:cNvSpPr>
            <a:spLocks noGrp="1"/>
          </p:cNvSpPr>
          <p:nvPr>
            <p:ph type="dt" sz="half" idx="10"/>
          </p:nvPr>
        </p:nvSpPr>
        <p:spPr/>
        <p:txBody>
          <a:bodyPr/>
          <a:lstStyle/>
          <a:p>
            <a:fld id="{5DFB1A9A-552C-4DDC-9C21-427FF3CBBBA7}" type="datetimeFigureOut">
              <a:rPr lang="en-US" smtClean="0"/>
              <a:t>2/28/2025</a:t>
            </a:fld>
            <a:endParaRPr lang="en-US"/>
          </a:p>
        </p:txBody>
      </p:sp>
      <p:sp>
        <p:nvSpPr>
          <p:cNvPr id="5" name="Footer Placeholder 4">
            <a:extLst>
              <a:ext uri="{FF2B5EF4-FFF2-40B4-BE49-F238E27FC236}">
                <a16:creationId xmlns:a16="http://schemas.microsoft.com/office/drawing/2014/main" id="{79E34E09-2497-0B70-AFA2-080A61FEF1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39A34-4E08-4EFC-5B56-37E819DDDD54}"/>
              </a:ext>
            </a:extLst>
          </p:cNvPr>
          <p:cNvSpPr>
            <a:spLocks noGrp="1"/>
          </p:cNvSpPr>
          <p:nvPr>
            <p:ph type="sldNum" sz="quarter" idx="12"/>
          </p:nvPr>
        </p:nvSpPr>
        <p:spPr/>
        <p:txBody>
          <a:bodyPr/>
          <a:lstStyle/>
          <a:p>
            <a:fld id="{57C6E555-CAB7-4F80-9145-58CB8015DA68}" type="slidenum">
              <a:rPr lang="en-US" smtClean="0"/>
              <a:t>‹#›</a:t>
            </a:fld>
            <a:endParaRPr lang="en-US"/>
          </a:p>
        </p:txBody>
      </p:sp>
    </p:spTree>
    <p:extLst>
      <p:ext uri="{BB962C8B-B14F-4D97-AF65-F5344CB8AC3E}">
        <p14:creationId xmlns:p14="http://schemas.microsoft.com/office/powerpoint/2010/main" val="3540388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192923-D859-59E2-04F3-9384B2940F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266DC6D-65B4-2BF3-149E-E65700FA5E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53F6D8-D87B-55F6-89CA-FC8FA3CBFD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FB1A9A-552C-4DDC-9C21-427FF3CBBBA7}" type="datetimeFigureOut">
              <a:rPr lang="en-US" smtClean="0"/>
              <a:t>2/28/2025</a:t>
            </a:fld>
            <a:endParaRPr lang="en-US"/>
          </a:p>
        </p:txBody>
      </p:sp>
      <p:sp>
        <p:nvSpPr>
          <p:cNvPr id="5" name="Footer Placeholder 4">
            <a:extLst>
              <a:ext uri="{FF2B5EF4-FFF2-40B4-BE49-F238E27FC236}">
                <a16:creationId xmlns:a16="http://schemas.microsoft.com/office/drawing/2014/main" id="{37ADF46C-0E0C-0B2D-9085-290E2CBE0D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072789C-130D-2E59-8116-4E80E94827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C6E555-CAB7-4F80-9145-58CB8015DA68}" type="slidenum">
              <a:rPr lang="en-US" smtClean="0"/>
              <a:t>‹#›</a:t>
            </a:fld>
            <a:endParaRPr lang="en-US"/>
          </a:p>
        </p:txBody>
      </p:sp>
    </p:spTree>
    <p:extLst>
      <p:ext uri="{BB962C8B-B14F-4D97-AF65-F5344CB8AC3E}">
        <p14:creationId xmlns:p14="http://schemas.microsoft.com/office/powerpoint/2010/main" val="10970444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439C5-CAA3-34CB-4FFC-60866C584BB0}"/>
              </a:ext>
            </a:extLst>
          </p:cNvPr>
          <p:cNvSpPr>
            <a:spLocks noGrp="1"/>
          </p:cNvSpPr>
          <p:nvPr>
            <p:ph type="ctrTitle"/>
          </p:nvPr>
        </p:nvSpPr>
        <p:spPr/>
        <p:txBody>
          <a:bodyPr/>
          <a:lstStyle/>
          <a:p>
            <a:r>
              <a:rPr lang="en-US" dirty="0"/>
              <a:t>Coupling and Cohesion</a:t>
            </a:r>
          </a:p>
        </p:txBody>
      </p:sp>
    </p:spTree>
    <p:extLst>
      <p:ext uri="{BB962C8B-B14F-4D97-AF65-F5344CB8AC3E}">
        <p14:creationId xmlns:p14="http://schemas.microsoft.com/office/powerpoint/2010/main" val="5190455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4E2451-1B11-CEFE-0CCA-2D641074A840}"/>
              </a:ext>
            </a:extLst>
          </p:cNvPr>
          <p:cNvSpPr>
            <a:spLocks noGrp="1"/>
          </p:cNvSpPr>
          <p:nvPr>
            <p:ph idx="1"/>
          </p:nvPr>
        </p:nvSpPr>
        <p:spPr>
          <a:xfrm>
            <a:off x="838200" y="95250"/>
            <a:ext cx="10515600" cy="6081713"/>
          </a:xfrm>
        </p:spPr>
        <p:txBody>
          <a:bodyPr>
            <a:normAutofit lnSpcReduction="10000"/>
          </a:bodyPr>
          <a:lstStyle/>
          <a:p>
            <a:pPr marL="0" indent="0">
              <a:buNone/>
            </a:pPr>
            <a:r>
              <a:rPr lang="en-US" b="1" dirty="0"/>
              <a:t>Coupling</a:t>
            </a:r>
            <a:r>
              <a:rPr lang="en-US" dirty="0"/>
              <a:t>: Coupling is the measure of the degree of interdependence between the modules. A good software will have low coupling. </a:t>
            </a:r>
          </a:p>
          <a:p>
            <a:pPr marL="0" indent="0">
              <a:buNone/>
            </a:pPr>
            <a:endParaRPr lang="en-US" dirty="0"/>
          </a:p>
          <a:p>
            <a:pPr marL="0" indent="0">
              <a:buNone/>
            </a:pPr>
            <a:r>
              <a:rPr lang="en-US" b="1" dirty="0"/>
              <a:t>Types of Coupling: </a:t>
            </a:r>
          </a:p>
          <a:p>
            <a:pPr marL="0" indent="0">
              <a:buNone/>
            </a:pPr>
            <a:endParaRPr lang="en-US" dirty="0"/>
          </a:p>
          <a:p>
            <a:pPr marL="0" indent="0">
              <a:buNone/>
            </a:pPr>
            <a:r>
              <a:rPr lang="en-US" b="1" dirty="0"/>
              <a:t>Data Coupling</a:t>
            </a:r>
            <a:r>
              <a:rPr lang="en-US" dirty="0"/>
              <a:t>: If the dependency between the modules is based on the fact that they communicate by passing only data, then the modules are said to be data coupled. In data coupling, the components are independent of each other and communicate through data. Module communications don’t contain tramp data. Example-customer billing system.</a:t>
            </a:r>
          </a:p>
          <a:p>
            <a:pPr marL="0" indent="0">
              <a:buNone/>
            </a:pPr>
            <a:r>
              <a:rPr lang="en-US" b="1" dirty="0"/>
              <a:t>Stamp Coupling </a:t>
            </a:r>
            <a:r>
              <a:rPr lang="en-US" dirty="0"/>
              <a:t>In stamp coupling, the complete data structure is passed from one module to another module. Therefore, it involves tramp data. It may be necessary due to efficiency factors- this choice was made by the insightful designer, not a lazy programmer.</a:t>
            </a:r>
          </a:p>
        </p:txBody>
      </p:sp>
    </p:spTree>
    <p:extLst>
      <p:ext uri="{BB962C8B-B14F-4D97-AF65-F5344CB8AC3E}">
        <p14:creationId xmlns:p14="http://schemas.microsoft.com/office/powerpoint/2010/main" val="4289076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0E07E7-2EC0-4A08-28EF-0B19C30DFEF5}"/>
              </a:ext>
            </a:extLst>
          </p:cNvPr>
          <p:cNvSpPr>
            <a:spLocks noGrp="1"/>
          </p:cNvSpPr>
          <p:nvPr>
            <p:ph idx="1"/>
          </p:nvPr>
        </p:nvSpPr>
        <p:spPr>
          <a:xfrm>
            <a:off x="838200" y="133350"/>
            <a:ext cx="10515600" cy="6043613"/>
          </a:xfrm>
        </p:spPr>
        <p:txBody>
          <a:bodyPr/>
          <a:lstStyle/>
          <a:p>
            <a:pPr marL="0" indent="0">
              <a:buNone/>
            </a:pPr>
            <a:endParaRPr lang="en-US" dirty="0"/>
          </a:p>
          <a:p>
            <a:pPr algn="l" fontAlgn="base">
              <a:buFont typeface="Arial" panose="020B0604020202020204" pitchFamily="34" charset="0"/>
              <a:buChar char="•"/>
            </a:pPr>
            <a:r>
              <a:rPr lang="en-US" b="1" i="0" dirty="0">
                <a:solidFill>
                  <a:srgbClr val="273239"/>
                </a:solidFill>
                <a:effectLst/>
                <a:latin typeface="urw-din"/>
              </a:rPr>
              <a:t>Control Coupling:</a:t>
            </a:r>
            <a:r>
              <a:rPr lang="en-US" b="0" i="0" dirty="0">
                <a:solidFill>
                  <a:srgbClr val="273239"/>
                </a:solidFill>
                <a:effectLst/>
                <a:latin typeface="urw-din"/>
              </a:rPr>
              <a:t> If the modules communicate by passing control information, then they are said to be control coupled. It can be bad if parameters indicate completely different behavior and good if parameters allow factoring and reuse of functionality. Example- sort function that takes comparison function as an argument.</a:t>
            </a:r>
          </a:p>
          <a:p>
            <a:pPr algn="l" fontAlgn="base">
              <a:buFont typeface="Arial" panose="020B0604020202020204" pitchFamily="34" charset="0"/>
              <a:buChar char="•"/>
            </a:pPr>
            <a:r>
              <a:rPr lang="en-US" b="1" i="0" dirty="0">
                <a:solidFill>
                  <a:srgbClr val="273239"/>
                </a:solidFill>
                <a:effectLst/>
                <a:latin typeface="urw-din"/>
              </a:rPr>
              <a:t>External Coupling:</a:t>
            </a:r>
            <a:r>
              <a:rPr lang="en-US" b="0" i="0" dirty="0">
                <a:solidFill>
                  <a:srgbClr val="273239"/>
                </a:solidFill>
                <a:effectLst/>
                <a:latin typeface="urw-din"/>
              </a:rPr>
              <a:t> In external coupling, the modules depend on other modules, external to the software being developed or to a particular type of hardware. Ex- protocol, external file, device format, etc.</a:t>
            </a:r>
          </a:p>
          <a:p>
            <a:pPr marL="0" indent="0">
              <a:buNone/>
            </a:pPr>
            <a:endParaRPr lang="en-US" dirty="0"/>
          </a:p>
        </p:txBody>
      </p:sp>
    </p:spTree>
    <p:extLst>
      <p:ext uri="{BB962C8B-B14F-4D97-AF65-F5344CB8AC3E}">
        <p14:creationId xmlns:p14="http://schemas.microsoft.com/office/powerpoint/2010/main" val="4155045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E9A7B4-A56B-FF86-D836-5A748BA93AFC}"/>
              </a:ext>
            </a:extLst>
          </p:cNvPr>
          <p:cNvSpPr>
            <a:spLocks noGrp="1"/>
          </p:cNvSpPr>
          <p:nvPr>
            <p:ph idx="1"/>
          </p:nvPr>
        </p:nvSpPr>
        <p:spPr>
          <a:xfrm>
            <a:off x="838200" y="371475"/>
            <a:ext cx="10515600" cy="5805488"/>
          </a:xfrm>
        </p:spPr>
        <p:txBody>
          <a:bodyPr/>
          <a:lstStyle/>
          <a:p>
            <a:pPr algn="l" fontAlgn="base">
              <a:buFont typeface="Arial" panose="020B0604020202020204" pitchFamily="34" charset="0"/>
              <a:buChar char="•"/>
            </a:pPr>
            <a:r>
              <a:rPr lang="en-US" b="1" i="0" dirty="0">
                <a:solidFill>
                  <a:srgbClr val="273239"/>
                </a:solidFill>
                <a:effectLst/>
                <a:latin typeface="urw-din"/>
              </a:rPr>
              <a:t>Common Coupling:</a:t>
            </a:r>
            <a:r>
              <a:rPr lang="en-US" b="0" i="0" dirty="0">
                <a:solidFill>
                  <a:srgbClr val="273239"/>
                </a:solidFill>
                <a:effectLst/>
                <a:latin typeface="urw-din"/>
              </a:rPr>
              <a:t> The modules have shared data such as global data structures. The changes in global data mean tracing back to all modules which access that data to evaluate the effect of the change. So it has got disadvantages like difficulty in reusing modules, reduced ability to control data accesses, and reduced maintainability.</a:t>
            </a:r>
          </a:p>
          <a:p>
            <a:pPr algn="l" fontAlgn="base">
              <a:buFont typeface="Arial" panose="020B0604020202020204" pitchFamily="34" charset="0"/>
              <a:buChar char="•"/>
            </a:pPr>
            <a:r>
              <a:rPr lang="en-US" b="1" i="0" dirty="0">
                <a:solidFill>
                  <a:srgbClr val="273239"/>
                </a:solidFill>
                <a:effectLst/>
                <a:latin typeface="urw-din"/>
              </a:rPr>
              <a:t>Content Coupling:</a:t>
            </a:r>
            <a:r>
              <a:rPr lang="en-US" b="0" i="0" dirty="0">
                <a:solidFill>
                  <a:srgbClr val="273239"/>
                </a:solidFill>
                <a:effectLst/>
                <a:latin typeface="urw-din"/>
              </a:rPr>
              <a:t> In a content coupling, one module can modify the data of another module, or control flow is passed from one module to the other module. This is the worst form of coupling and should be avoided.</a:t>
            </a:r>
          </a:p>
          <a:p>
            <a:pPr marL="0" indent="0">
              <a:buNone/>
            </a:pPr>
            <a:endParaRPr lang="en-US" dirty="0"/>
          </a:p>
        </p:txBody>
      </p:sp>
    </p:spTree>
    <p:extLst>
      <p:ext uri="{BB962C8B-B14F-4D97-AF65-F5344CB8AC3E}">
        <p14:creationId xmlns:p14="http://schemas.microsoft.com/office/powerpoint/2010/main" val="4123987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952AD-9FB9-1453-568D-C2AF08C11890}"/>
              </a:ext>
            </a:extLst>
          </p:cNvPr>
          <p:cNvSpPr>
            <a:spLocks noGrp="1"/>
          </p:cNvSpPr>
          <p:nvPr>
            <p:ph type="title"/>
          </p:nvPr>
        </p:nvSpPr>
        <p:spPr>
          <a:xfrm>
            <a:off x="838200" y="365125"/>
            <a:ext cx="10515600" cy="620395"/>
          </a:xfrm>
        </p:spPr>
        <p:txBody>
          <a:bodyPr>
            <a:normAutofit fontScale="90000"/>
          </a:bodyPr>
          <a:lstStyle/>
          <a:p>
            <a:r>
              <a:rPr lang="en-US" dirty="0"/>
              <a:t>Coupling Example</a:t>
            </a:r>
          </a:p>
        </p:txBody>
      </p:sp>
      <p:sp>
        <p:nvSpPr>
          <p:cNvPr id="3" name="Content Placeholder 2">
            <a:extLst>
              <a:ext uri="{FF2B5EF4-FFF2-40B4-BE49-F238E27FC236}">
                <a16:creationId xmlns:a16="http://schemas.microsoft.com/office/drawing/2014/main" id="{4515D4B6-37B5-0A43-9866-1424350E4DE1}"/>
              </a:ext>
            </a:extLst>
          </p:cNvPr>
          <p:cNvSpPr>
            <a:spLocks noGrp="1"/>
          </p:cNvSpPr>
          <p:nvPr>
            <p:ph idx="1"/>
          </p:nvPr>
        </p:nvSpPr>
        <p:spPr>
          <a:xfrm>
            <a:off x="838200" y="904240"/>
            <a:ext cx="10515600" cy="5272723"/>
          </a:xfrm>
        </p:spPr>
        <p:txBody>
          <a:bodyPr>
            <a:normAutofit fontScale="62500" lnSpcReduction="20000"/>
          </a:bodyPr>
          <a:lstStyle/>
          <a:p>
            <a:pPr marL="0" indent="0">
              <a:buNone/>
            </a:pPr>
            <a:r>
              <a:rPr lang="en-US" dirty="0"/>
              <a:t>class Volume </a:t>
            </a:r>
          </a:p>
          <a:p>
            <a:pPr marL="0" indent="0">
              <a:buNone/>
            </a:pPr>
            <a:r>
              <a:rPr lang="en-US" dirty="0"/>
              <a:t>{</a:t>
            </a:r>
          </a:p>
          <a:p>
            <a:pPr marL="0" indent="0">
              <a:buNone/>
            </a:pPr>
            <a:r>
              <a:rPr lang="en-US" dirty="0"/>
              <a:t>     public static void main(String </a:t>
            </a:r>
            <a:r>
              <a:rPr lang="en-US" dirty="0" err="1"/>
              <a:t>args</a:t>
            </a:r>
            <a:r>
              <a:rPr lang="en-US" dirty="0"/>
              <a:t>[]) </a:t>
            </a:r>
          </a:p>
          <a:p>
            <a:pPr marL="0" indent="0">
              <a:buNone/>
            </a:pPr>
            <a:r>
              <a:rPr lang="en-US" dirty="0"/>
              <a:t>     {</a:t>
            </a:r>
          </a:p>
          <a:p>
            <a:pPr marL="0" indent="0">
              <a:buNone/>
            </a:pPr>
            <a:r>
              <a:rPr lang="en-US" dirty="0"/>
              <a:t>         Box b = new Box(5,5,5);</a:t>
            </a:r>
          </a:p>
          <a:p>
            <a:pPr marL="0" indent="0">
              <a:buNone/>
            </a:pPr>
            <a:r>
              <a:rPr lang="en-US" dirty="0"/>
              <a:t>         </a:t>
            </a:r>
            <a:r>
              <a:rPr lang="en-US" dirty="0" err="1"/>
              <a:t>System.out.println</a:t>
            </a:r>
            <a:r>
              <a:rPr lang="en-US" dirty="0"/>
              <a:t>(</a:t>
            </a:r>
            <a:r>
              <a:rPr lang="en-US" dirty="0" err="1"/>
              <a:t>b.volume</a:t>
            </a:r>
            <a:r>
              <a:rPr lang="en-US" dirty="0"/>
              <a:t>);</a:t>
            </a:r>
          </a:p>
          <a:p>
            <a:pPr marL="0" indent="0">
              <a:buNone/>
            </a:pPr>
            <a:r>
              <a:rPr lang="en-US" dirty="0"/>
              <a:t>     }</a:t>
            </a:r>
          </a:p>
          <a:p>
            <a:pPr marL="0" indent="0">
              <a:buNone/>
            </a:pPr>
            <a:r>
              <a:rPr lang="en-US" dirty="0"/>
              <a:t>}</a:t>
            </a:r>
          </a:p>
          <a:p>
            <a:pPr marL="0" indent="0">
              <a:buNone/>
            </a:pPr>
            <a:r>
              <a:rPr lang="en-US" dirty="0"/>
              <a:t>class Box </a:t>
            </a:r>
          </a:p>
          <a:p>
            <a:pPr marL="0" indent="0">
              <a:buNone/>
            </a:pPr>
            <a:r>
              <a:rPr lang="en-US" dirty="0"/>
              <a:t>{</a:t>
            </a:r>
          </a:p>
          <a:p>
            <a:pPr marL="0" indent="0">
              <a:buNone/>
            </a:pPr>
            <a:r>
              <a:rPr lang="en-US" dirty="0"/>
              <a:t>     public int volume;</a:t>
            </a:r>
          </a:p>
          <a:p>
            <a:pPr marL="0" indent="0">
              <a:buNone/>
            </a:pPr>
            <a:r>
              <a:rPr lang="en-US" dirty="0"/>
              <a:t>     Box(int length, int width, int height) </a:t>
            </a:r>
          </a:p>
          <a:p>
            <a:pPr marL="0" indent="0">
              <a:buNone/>
            </a:pPr>
            <a:r>
              <a:rPr lang="en-US" dirty="0"/>
              <a:t>     {</a:t>
            </a:r>
          </a:p>
          <a:p>
            <a:pPr marL="0" indent="0">
              <a:buNone/>
            </a:pPr>
            <a:r>
              <a:rPr lang="en-US" dirty="0"/>
              <a:t>         </a:t>
            </a:r>
            <a:r>
              <a:rPr lang="en-US" dirty="0" err="1"/>
              <a:t>this.volume</a:t>
            </a:r>
            <a:r>
              <a:rPr lang="en-US" dirty="0"/>
              <a:t> = length * width * height;</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2242974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81AC02-CD4D-BCD2-4C64-E5E5FFD13BDE}"/>
              </a:ext>
            </a:extLst>
          </p:cNvPr>
          <p:cNvSpPr>
            <a:spLocks noGrp="1"/>
          </p:cNvSpPr>
          <p:nvPr>
            <p:ph idx="1"/>
          </p:nvPr>
        </p:nvSpPr>
        <p:spPr>
          <a:xfrm>
            <a:off x="838200" y="193040"/>
            <a:ext cx="10515600" cy="5983923"/>
          </a:xfrm>
        </p:spPr>
        <p:txBody>
          <a:bodyPr>
            <a:normAutofit lnSpcReduction="10000"/>
          </a:bodyPr>
          <a:lstStyle/>
          <a:p>
            <a:pPr marL="0" indent="0">
              <a:buNone/>
            </a:pPr>
            <a:r>
              <a:rPr lang="en-US" dirty="0"/>
              <a:t>Type of possible coupling in the above code with justification:</a:t>
            </a:r>
          </a:p>
          <a:p>
            <a:pPr marL="0" indent="0">
              <a:buNone/>
            </a:pPr>
            <a:endParaRPr lang="en-US" dirty="0"/>
          </a:p>
          <a:p>
            <a:pPr marL="0" indent="0">
              <a:buNone/>
            </a:pPr>
            <a:r>
              <a:rPr lang="en-US" b="1" dirty="0"/>
              <a:t>The above code exhibits data coupling.</a:t>
            </a:r>
          </a:p>
          <a:p>
            <a:pPr marL="0" indent="0">
              <a:buNone/>
            </a:pPr>
            <a:endParaRPr lang="en-US" dirty="0"/>
          </a:p>
          <a:p>
            <a:pPr marL="0" indent="0">
              <a:buNone/>
            </a:pPr>
            <a:r>
              <a:rPr lang="en-US" dirty="0"/>
              <a:t>Data coupling refers to the situation where two modules share data through parameters, global variables or return values. In the given code, the Volume class creates an instance of the Box class (Box b = new Box(5,5,5)) and accesses its volume variable directly (</a:t>
            </a:r>
            <a:r>
              <a:rPr lang="en-US" dirty="0" err="1"/>
              <a:t>System.out.println</a:t>
            </a:r>
            <a:r>
              <a:rPr lang="en-US" dirty="0"/>
              <a:t>(</a:t>
            </a:r>
            <a:r>
              <a:rPr lang="en-US" dirty="0" err="1"/>
              <a:t>b.volume</a:t>
            </a:r>
            <a:r>
              <a:rPr lang="en-US" dirty="0"/>
              <a:t>)).</a:t>
            </a:r>
          </a:p>
          <a:p>
            <a:pPr marL="0" indent="0">
              <a:buNone/>
            </a:pPr>
            <a:endParaRPr lang="en-US" dirty="0"/>
          </a:p>
          <a:p>
            <a:pPr marL="0" indent="0">
              <a:buNone/>
            </a:pPr>
            <a:r>
              <a:rPr lang="en-US" dirty="0"/>
              <a:t>This creates a direct dependency between the Volume and Box classes, where the Volume class is dependent on the volume variable of the Box class. This is an example of data coupling, as the Volume class is sharing data with the Box class through the volume variable.</a:t>
            </a:r>
          </a:p>
        </p:txBody>
      </p:sp>
    </p:spTree>
    <p:extLst>
      <p:ext uri="{BB962C8B-B14F-4D97-AF65-F5344CB8AC3E}">
        <p14:creationId xmlns:p14="http://schemas.microsoft.com/office/powerpoint/2010/main" val="2140348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D703BF-69D3-0D60-928D-7E3738629D63}"/>
              </a:ext>
            </a:extLst>
          </p:cNvPr>
          <p:cNvSpPr txBox="1"/>
          <p:nvPr/>
        </p:nvSpPr>
        <p:spPr>
          <a:xfrm>
            <a:off x="355324" y="163203"/>
            <a:ext cx="6097656" cy="369332"/>
          </a:xfrm>
          <a:prstGeom prst="rect">
            <a:avLst/>
          </a:prstGeom>
          <a:noFill/>
        </p:spPr>
        <p:txBody>
          <a:bodyPr wrap="square">
            <a:spAutoFit/>
          </a:bodyPr>
          <a:lstStyle/>
          <a:p>
            <a:r>
              <a:rPr lang="en-IN" b="1" dirty="0"/>
              <a:t>Java Code Demonstrating Different Coupling Types</a:t>
            </a:r>
          </a:p>
        </p:txBody>
      </p:sp>
      <p:sp>
        <p:nvSpPr>
          <p:cNvPr id="10" name="TextBox 9">
            <a:extLst>
              <a:ext uri="{FF2B5EF4-FFF2-40B4-BE49-F238E27FC236}">
                <a16:creationId xmlns:a16="http://schemas.microsoft.com/office/drawing/2014/main" id="{C26966D5-AAD7-7200-780B-6F3C5F128DB5}"/>
              </a:ext>
            </a:extLst>
          </p:cNvPr>
          <p:cNvSpPr txBox="1"/>
          <p:nvPr/>
        </p:nvSpPr>
        <p:spPr>
          <a:xfrm>
            <a:off x="258416" y="528357"/>
            <a:ext cx="10137913" cy="6186309"/>
          </a:xfrm>
          <a:prstGeom prst="rect">
            <a:avLst/>
          </a:prstGeom>
          <a:noFill/>
        </p:spPr>
        <p:txBody>
          <a:bodyPr wrap="square">
            <a:spAutoFit/>
          </a:bodyPr>
          <a:lstStyle/>
          <a:p>
            <a:r>
              <a:rPr lang="en-IN" b="1" dirty="0"/>
              <a:t>// Stamp Coupling Example</a:t>
            </a:r>
          </a:p>
          <a:p>
            <a:r>
              <a:rPr lang="en-IN" dirty="0"/>
              <a:t>class Address {</a:t>
            </a:r>
          </a:p>
          <a:p>
            <a:r>
              <a:rPr lang="en-IN" dirty="0"/>
              <a:t>    String city, state;</a:t>
            </a:r>
          </a:p>
          <a:p>
            <a:endParaRPr lang="en-IN" dirty="0"/>
          </a:p>
          <a:p>
            <a:r>
              <a:rPr lang="en-IN" dirty="0"/>
              <a:t>    public Address(String city, String state) {</a:t>
            </a:r>
          </a:p>
          <a:p>
            <a:r>
              <a:rPr lang="en-IN" dirty="0"/>
              <a:t>        </a:t>
            </a:r>
            <a:r>
              <a:rPr lang="en-IN" dirty="0" err="1"/>
              <a:t>this.city</a:t>
            </a:r>
            <a:r>
              <a:rPr lang="en-IN" dirty="0"/>
              <a:t> = city;</a:t>
            </a:r>
          </a:p>
          <a:p>
            <a:r>
              <a:rPr lang="en-IN" dirty="0"/>
              <a:t>        </a:t>
            </a:r>
            <a:r>
              <a:rPr lang="en-IN" dirty="0" err="1"/>
              <a:t>this.state</a:t>
            </a:r>
            <a:r>
              <a:rPr lang="en-IN" dirty="0"/>
              <a:t> = state;</a:t>
            </a:r>
          </a:p>
          <a:p>
            <a:r>
              <a:rPr lang="en-IN" dirty="0"/>
              <a:t>    }</a:t>
            </a:r>
          </a:p>
          <a:p>
            <a:r>
              <a:rPr lang="en-IN" dirty="0"/>
              <a:t>}</a:t>
            </a:r>
          </a:p>
          <a:p>
            <a:r>
              <a:rPr lang="en-IN" dirty="0"/>
              <a:t>class </a:t>
            </a:r>
            <a:r>
              <a:rPr lang="en-IN" dirty="0" err="1"/>
              <a:t>StampCouplingExample</a:t>
            </a:r>
            <a:r>
              <a:rPr lang="en-IN" dirty="0"/>
              <a:t> {</a:t>
            </a:r>
          </a:p>
          <a:p>
            <a:r>
              <a:rPr lang="en-IN" dirty="0"/>
              <a:t>    public void </a:t>
            </a:r>
            <a:r>
              <a:rPr lang="en-IN" dirty="0" err="1"/>
              <a:t>printAddress</a:t>
            </a:r>
            <a:r>
              <a:rPr lang="en-IN" dirty="0"/>
              <a:t>(Address address) { </a:t>
            </a:r>
            <a:r>
              <a:rPr lang="en-IN" b="1" dirty="0"/>
              <a:t>// Passing an object (Stamp Coupling)</a:t>
            </a:r>
          </a:p>
          <a:p>
            <a:r>
              <a:rPr lang="en-IN" dirty="0"/>
              <a:t>        </a:t>
            </a:r>
            <a:r>
              <a:rPr lang="en-IN" dirty="0" err="1"/>
              <a:t>System.out.println</a:t>
            </a:r>
            <a:r>
              <a:rPr lang="en-IN" dirty="0"/>
              <a:t>("City: " + </a:t>
            </a:r>
            <a:r>
              <a:rPr lang="en-IN" dirty="0" err="1"/>
              <a:t>address.city</a:t>
            </a:r>
            <a:r>
              <a:rPr lang="en-IN" dirty="0"/>
              <a:t> + ", State: " + </a:t>
            </a:r>
            <a:r>
              <a:rPr lang="en-IN" dirty="0" err="1"/>
              <a:t>address.state</a:t>
            </a:r>
            <a:r>
              <a:rPr lang="en-IN" dirty="0"/>
              <a:t>);</a:t>
            </a:r>
          </a:p>
          <a:p>
            <a:r>
              <a:rPr lang="en-IN" dirty="0"/>
              <a:t>    }</a:t>
            </a:r>
          </a:p>
          <a:p>
            <a:r>
              <a:rPr lang="en-IN" dirty="0"/>
              <a:t>}</a:t>
            </a:r>
          </a:p>
          <a:p>
            <a:r>
              <a:rPr lang="en-IN" b="1" dirty="0"/>
              <a:t>// Common Coupling Example (Global Variable)</a:t>
            </a:r>
          </a:p>
          <a:p>
            <a:r>
              <a:rPr lang="en-IN" dirty="0"/>
              <a:t>class </a:t>
            </a:r>
            <a:r>
              <a:rPr lang="en-IN" dirty="0" err="1"/>
              <a:t>CommonCouplingExample</a:t>
            </a:r>
            <a:r>
              <a:rPr lang="en-IN" dirty="0"/>
              <a:t> {</a:t>
            </a:r>
          </a:p>
          <a:p>
            <a:r>
              <a:rPr lang="en-IN" dirty="0"/>
              <a:t>    static String </a:t>
            </a:r>
            <a:r>
              <a:rPr lang="en-IN" dirty="0" err="1"/>
              <a:t>sharedData</a:t>
            </a:r>
            <a:r>
              <a:rPr lang="en-IN" dirty="0"/>
              <a:t> = "Common Data"; </a:t>
            </a:r>
            <a:r>
              <a:rPr lang="en-IN" b="1" dirty="0"/>
              <a:t>// Global Variable (Common Coupling)</a:t>
            </a:r>
          </a:p>
          <a:p>
            <a:endParaRPr lang="en-IN" dirty="0"/>
          </a:p>
          <a:p>
            <a:r>
              <a:rPr lang="en-IN" dirty="0"/>
              <a:t>    public void </a:t>
            </a:r>
            <a:r>
              <a:rPr lang="en-IN" dirty="0" err="1"/>
              <a:t>modifyData</a:t>
            </a:r>
            <a:r>
              <a:rPr lang="en-IN" dirty="0"/>
              <a:t>() {</a:t>
            </a:r>
          </a:p>
          <a:p>
            <a:r>
              <a:rPr lang="en-IN" dirty="0"/>
              <a:t>        </a:t>
            </a:r>
            <a:r>
              <a:rPr lang="en-IN" dirty="0" err="1"/>
              <a:t>sharedData</a:t>
            </a:r>
            <a:r>
              <a:rPr lang="en-IN" dirty="0"/>
              <a:t> = "Modified Data";</a:t>
            </a:r>
          </a:p>
          <a:p>
            <a:r>
              <a:rPr lang="en-IN" dirty="0"/>
              <a:t>    }</a:t>
            </a:r>
          </a:p>
          <a:p>
            <a:r>
              <a:rPr lang="en-IN" dirty="0"/>
              <a:t>}</a:t>
            </a:r>
          </a:p>
        </p:txBody>
      </p:sp>
    </p:spTree>
    <p:extLst>
      <p:ext uri="{BB962C8B-B14F-4D97-AF65-F5344CB8AC3E}">
        <p14:creationId xmlns:p14="http://schemas.microsoft.com/office/powerpoint/2010/main" val="3969968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0F4992-FDDB-11B3-3FCF-72022C2376F5}"/>
              </a:ext>
            </a:extLst>
          </p:cNvPr>
          <p:cNvSpPr txBox="1"/>
          <p:nvPr/>
        </p:nvSpPr>
        <p:spPr>
          <a:xfrm>
            <a:off x="79514" y="0"/>
            <a:ext cx="11857382" cy="7294305"/>
          </a:xfrm>
          <a:prstGeom prst="rect">
            <a:avLst/>
          </a:prstGeom>
          <a:noFill/>
        </p:spPr>
        <p:txBody>
          <a:bodyPr wrap="square">
            <a:spAutoFit/>
          </a:bodyPr>
          <a:lstStyle/>
          <a:p>
            <a:r>
              <a:rPr lang="en-IN" b="1" dirty="0"/>
              <a:t>// Content Coupling Example</a:t>
            </a:r>
          </a:p>
          <a:p>
            <a:r>
              <a:rPr lang="en-IN" dirty="0"/>
              <a:t>class </a:t>
            </a:r>
            <a:r>
              <a:rPr lang="en-IN" dirty="0" err="1"/>
              <a:t>ContentCouplingExample</a:t>
            </a:r>
            <a:r>
              <a:rPr lang="en-IN" dirty="0"/>
              <a:t> {</a:t>
            </a:r>
          </a:p>
          <a:p>
            <a:r>
              <a:rPr lang="en-IN" dirty="0"/>
              <a:t>    public void </a:t>
            </a:r>
            <a:r>
              <a:rPr lang="en-IN" dirty="0" err="1"/>
              <a:t>modifyArray</a:t>
            </a:r>
            <a:r>
              <a:rPr lang="en-IN" dirty="0"/>
              <a:t>(int[] </a:t>
            </a:r>
            <a:r>
              <a:rPr lang="en-IN" dirty="0" err="1"/>
              <a:t>arr</a:t>
            </a:r>
            <a:r>
              <a:rPr lang="en-IN" dirty="0"/>
              <a:t>) {</a:t>
            </a:r>
          </a:p>
          <a:p>
            <a:r>
              <a:rPr lang="en-IN" dirty="0"/>
              <a:t>        </a:t>
            </a:r>
            <a:r>
              <a:rPr lang="en-IN" dirty="0" err="1"/>
              <a:t>arr</a:t>
            </a:r>
            <a:r>
              <a:rPr lang="en-IN" dirty="0"/>
              <a:t>[0] = 100; // Directly modifying the content of an array (Content Coupling)</a:t>
            </a:r>
          </a:p>
          <a:p>
            <a:r>
              <a:rPr lang="en-IN" dirty="0"/>
              <a:t>    }  }</a:t>
            </a:r>
          </a:p>
          <a:p>
            <a:r>
              <a:rPr lang="en-IN" b="1" dirty="0"/>
              <a:t>// Main Class to Test the Coupling Types</a:t>
            </a:r>
          </a:p>
          <a:p>
            <a:r>
              <a:rPr lang="en-IN" dirty="0"/>
              <a:t>public class </a:t>
            </a:r>
            <a:r>
              <a:rPr lang="en-IN" dirty="0" err="1"/>
              <a:t>CouplingTypesExample</a:t>
            </a:r>
            <a:r>
              <a:rPr lang="en-IN" dirty="0"/>
              <a:t> {</a:t>
            </a:r>
          </a:p>
          <a:p>
            <a:r>
              <a:rPr lang="en-IN" dirty="0"/>
              <a:t>    public static void main(String[] </a:t>
            </a:r>
            <a:r>
              <a:rPr lang="en-IN" dirty="0" err="1"/>
              <a:t>args</a:t>
            </a:r>
            <a:r>
              <a:rPr lang="en-IN" dirty="0"/>
              <a:t>) {</a:t>
            </a:r>
          </a:p>
          <a:p>
            <a:r>
              <a:rPr lang="en-IN" b="1" dirty="0"/>
              <a:t>        // Stamp Coupling</a:t>
            </a:r>
          </a:p>
          <a:p>
            <a:r>
              <a:rPr lang="en-IN" dirty="0"/>
              <a:t>        Address </a:t>
            </a:r>
            <a:r>
              <a:rPr lang="en-IN" dirty="0" err="1"/>
              <a:t>address</a:t>
            </a:r>
            <a:r>
              <a:rPr lang="en-IN" dirty="0"/>
              <a:t> = new Address("New York", "NY");</a:t>
            </a:r>
          </a:p>
          <a:p>
            <a:r>
              <a:rPr lang="en-IN" dirty="0"/>
              <a:t>        </a:t>
            </a:r>
            <a:r>
              <a:rPr lang="en-IN" dirty="0" err="1"/>
              <a:t>StampCouplingExample</a:t>
            </a:r>
            <a:r>
              <a:rPr lang="en-IN" dirty="0"/>
              <a:t> stamp = new </a:t>
            </a:r>
            <a:r>
              <a:rPr lang="en-IN" dirty="0" err="1"/>
              <a:t>StampCouplingExample</a:t>
            </a:r>
            <a:r>
              <a:rPr lang="en-IN" dirty="0"/>
              <a:t>();</a:t>
            </a:r>
          </a:p>
          <a:p>
            <a:r>
              <a:rPr lang="en-IN" dirty="0"/>
              <a:t>        </a:t>
            </a:r>
            <a:r>
              <a:rPr lang="en-IN" dirty="0" err="1"/>
              <a:t>stamp.printAddress</a:t>
            </a:r>
            <a:r>
              <a:rPr lang="en-IN" dirty="0"/>
              <a:t>(address); </a:t>
            </a:r>
            <a:r>
              <a:rPr lang="en-IN" b="1" dirty="0"/>
              <a:t>// Object passed, but only part of it is used.</a:t>
            </a:r>
          </a:p>
          <a:p>
            <a:endParaRPr lang="en-IN" dirty="0"/>
          </a:p>
          <a:p>
            <a:r>
              <a:rPr lang="en-IN" b="1" dirty="0"/>
              <a:t>        // Common Coupling</a:t>
            </a:r>
          </a:p>
          <a:p>
            <a:r>
              <a:rPr lang="en-IN" dirty="0"/>
              <a:t>        </a:t>
            </a:r>
            <a:r>
              <a:rPr lang="en-IN" dirty="0" err="1"/>
              <a:t>CommonCouplingExample</a:t>
            </a:r>
            <a:r>
              <a:rPr lang="en-IN" dirty="0"/>
              <a:t> common1 = new </a:t>
            </a:r>
            <a:r>
              <a:rPr lang="en-IN" dirty="0" err="1"/>
              <a:t>CommonCouplingExample</a:t>
            </a:r>
            <a:r>
              <a:rPr lang="en-IN" dirty="0"/>
              <a:t>();</a:t>
            </a:r>
          </a:p>
          <a:p>
            <a:r>
              <a:rPr lang="en-IN" dirty="0"/>
              <a:t>        </a:t>
            </a:r>
            <a:r>
              <a:rPr lang="en-IN" dirty="0" err="1"/>
              <a:t>CommonCouplingExample</a:t>
            </a:r>
            <a:r>
              <a:rPr lang="en-IN" dirty="0"/>
              <a:t> common2 = new </a:t>
            </a:r>
            <a:r>
              <a:rPr lang="en-IN" dirty="0" err="1"/>
              <a:t>CommonCouplingExample</a:t>
            </a:r>
            <a:r>
              <a:rPr lang="en-IN" dirty="0"/>
              <a:t>();</a:t>
            </a:r>
          </a:p>
          <a:p>
            <a:r>
              <a:rPr lang="en-IN" dirty="0"/>
              <a:t>        </a:t>
            </a:r>
            <a:r>
              <a:rPr lang="en-IN" dirty="0" err="1"/>
              <a:t>System.out.println</a:t>
            </a:r>
            <a:r>
              <a:rPr lang="en-IN" dirty="0"/>
              <a:t>("Before Modification: " + </a:t>
            </a:r>
            <a:r>
              <a:rPr lang="en-IN" dirty="0" err="1"/>
              <a:t>CommonCouplingExample.sharedData</a:t>
            </a:r>
            <a:r>
              <a:rPr lang="en-IN" dirty="0"/>
              <a:t>);</a:t>
            </a:r>
          </a:p>
          <a:p>
            <a:r>
              <a:rPr lang="en-IN" dirty="0"/>
              <a:t>        common1.modifyData();</a:t>
            </a:r>
          </a:p>
          <a:p>
            <a:r>
              <a:rPr lang="en-IN" dirty="0"/>
              <a:t>        </a:t>
            </a:r>
            <a:r>
              <a:rPr lang="en-IN" dirty="0" err="1"/>
              <a:t>System.out.println</a:t>
            </a:r>
            <a:r>
              <a:rPr lang="en-IN" dirty="0"/>
              <a:t>("After Modification: " + </a:t>
            </a:r>
            <a:r>
              <a:rPr lang="en-IN" dirty="0" err="1"/>
              <a:t>CommonCouplingExample.sharedData</a:t>
            </a:r>
            <a:r>
              <a:rPr lang="en-IN" dirty="0"/>
              <a:t>); </a:t>
            </a:r>
            <a:r>
              <a:rPr lang="en-IN" b="1" dirty="0"/>
              <a:t>// Affects all instances</a:t>
            </a:r>
          </a:p>
          <a:p>
            <a:r>
              <a:rPr lang="en-IN" dirty="0"/>
              <a:t>        </a:t>
            </a:r>
            <a:r>
              <a:rPr lang="en-IN" b="1" dirty="0"/>
              <a:t>// Content Coupling</a:t>
            </a:r>
          </a:p>
          <a:p>
            <a:r>
              <a:rPr lang="en-IN" dirty="0"/>
              <a:t>        int[] numbers = {1, 2, 3};</a:t>
            </a:r>
          </a:p>
          <a:p>
            <a:r>
              <a:rPr lang="en-IN" dirty="0"/>
              <a:t>        </a:t>
            </a:r>
            <a:r>
              <a:rPr lang="en-IN" dirty="0" err="1"/>
              <a:t>ContentCouplingExample</a:t>
            </a:r>
            <a:r>
              <a:rPr lang="en-IN" dirty="0"/>
              <a:t> content = new </a:t>
            </a:r>
            <a:r>
              <a:rPr lang="en-IN" dirty="0" err="1"/>
              <a:t>ContentCouplingExample</a:t>
            </a:r>
            <a:r>
              <a:rPr lang="en-IN" dirty="0"/>
              <a:t>();</a:t>
            </a:r>
          </a:p>
          <a:p>
            <a:r>
              <a:rPr lang="en-IN" dirty="0"/>
              <a:t>        </a:t>
            </a:r>
            <a:r>
              <a:rPr lang="en-IN" dirty="0" err="1"/>
              <a:t>content.modifyArray</a:t>
            </a:r>
            <a:r>
              <a:rPr lang="en-IN" dirty="0"/>
              <a:t>(numbers);</a:t>
            </a:r>
          </a:p>
          <a:p>
            <a:r>
              <a:rPr lang="en-IN" dirty="0"/>
              <a:t>        </a:t>
            </a:r>
            <a:r>
              <a:rPr lang="en-IN" dirty="0" err="1"/>
              <a:t>System.out.println</a:t>
            </a:r>
            <a:r>
              <a:rPr lang="en-IN" dirty="0"/>
              <a:t>("Modified Array First Element: " + numbers[0]); </a:t>
            </a:r>
            <a:r>
              <a:rPr lang="en-IN" b="1" dirty="0"/>
              <a:t>// Direct modification</a:t>
            </a:r>
          </a:p>
          <a:p>
            <a:r>
              <a:rPr lang="en-IN" dirty="0"/>
              <a:t>    }  }</a:t>
            </a:r>
          </a:p>
        </p:txBody>
      </p:sp>
    </p:spTree>
    <p:extLst>
      <p:ext uri="{BB962C8B-B14F-4D97-AF65-F5344CB8AC3E}">
        <p14:creationId xmlns:p14="http://schemas.microsoft.com/office/powerpoint/2010/main" val="3667900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4E8464A-B005-9CFE-EFE4-3FC7D3921B80}"/>
              </a:ext>
            </a:extLst>
          </p:cNvPr>
          <p:cNvSpPr txBox="1"/>
          <p:nvPr/>
        </p:nvSpPr>
        <p:spPr>
          <a:xfrm>
            <a:off x="176420" y="0"/>
            <a:ext cx="10706928" cy="5078313"/>
          </a:xfrm>
          <a:prstGeom prst="rect">
            <a:avLst/>
          </a:prstGeom>
          <a:noFill/>
        </p:spPr>
        <p:txBody>
          <a:bodyPr wrap="square">
            <a:spAutoFit/>
          </a:bodyPr>
          <a:lstStyle/>
          <a:p>
            <a:r>
              <a:rPr lang="en-IN" dirty="0"/>
              <a:t>Analysis of Coupling Types:</a:t>
            </a:r>
          </a:p>
          <a:p>
            <a:r>
              <a:rPr lang="en-IN" dirty="0"/>
              <a:t>✅ Stamp Coupling (Moderate Coupling - Acceptable)</a:t>
            </a:r>
          </a:p>
          <a:p>
            <a:endParaRPr lang="en-IN" dirty="0"/>
          </a:p>
          <a:p>
            <a:r>
              <a:rPr lang="en-IN" dirty="0"/>
              <a:t>    Observed in </a:t>
            </a:r>
            <a:r>
              <a:rPr lang="en-IN" dirty="0" err="1"/>
              <a:t>StampCouplingExample.printAddress</a:t>
            </a:r>
            <a:r>
              <a:rPr lang="en-IN" dirty="0"/>
              <a:t>(Address address)</a:t>
            </a:r>
          </a:p>
          <a:p>
            <a:r>
              <a:rPr lang="en-IN" dirty="0"/>
              <a:t>    A structured data type (Address object) is passed, but only part of it is used.</a:t>
            </a:r>
          </a:p>
          <a:p>
            <a:r>
              <a:rPr lang="en-IN" dirty="0"/>
              <a:t>    Can be improved by passing only required data instead of the entire object.</a:t>
            </a:r>
          </a:p>
          <a:p>
            <a:endParaRPr lang="en-IN" dirty="0"/>
          </a:p>
          <a:p>
            <a:r>
              <a:rPr lang="en-IN" dirty="0"/>
              <a:t>❌ Common Coupling (High Coupling - Avoid)</a:t>
            </a:r>
          </a:p>
          <a:p>
            <a:endParaRPr lang="en-IN" dirty="0"/>
          </a:p>
          <a:p>
            <a:r>
              <a:rPr lang="en-IN" dirty="0"/>
              <a:t>    Observed in </a:t>
            </a:r>
            <a:r>
              <a:rPr lang="en-IN" dirty="0" err="1"/>
              <a:t>CommonCouplingExample.sharedData</a:t>
            </a:r>
            <a:endParaRPr lang="en-IN" dirty="0"/>
          </a:p>
          <a:p>
            <a:r>
              <a:rPr lang="en-IN" dirty="0"/>
              <a:t>    Multiple classes share a global variable, meaning any change affects all instances.</a:t>
            </a:r>
          </a:p>
          <a:p>
            <a:r>
              <a:rPr lang="en-IN" dirty="0"/>
              <a:t>    Leads to unpredictable </a:t>
            </a:r>
            <a:r>
              <a:rPr lang="en-IN" dirty="0" err="1"/>
              <a:t>behavior</a:t>
            </a:r>
            <a:r>
              <a:rPr lang="en-IN" dirty="0"/>
              <a:t> and debugging difficulties.</a:t>
            </a:r>
          </a:p>
          <a:p>
            <a:endParaRPr lang="en-IN" dirty="0"/>
          </a:p>
          <a:p>
            <a:r>
              <a:rPr lang="en-IN" dirty="0"/>
              <a:t>❌ Content Coupling (Very High Coupling - Avoid)</a:t>
            </a:r>
          </a:p>
          <a:p>
            <a:endParaRPr lang="en-IN" dirty="0"/>
          </a:p>
          <a:p>
            <a:r>
              <a:rPr lang="en-IN" dirty="0"/>
              <a:t>    Observed in </a:t>
            </a:r>
            <a:r>
              <a:rPr lang="en-IN" dirty="0" err="1"/>
              <a:t>ContentCouplingExample.modifyArray</a:t>
            </a:r>
            <a:r>
              <a:rPr lang="en-IN" dirty="0"/>
              <a:t>(int[] </a:t>
            </a:r>
            <a:r>
              <a:rPr lang="en-IN" dirty="0" err="1"/>
              <a:t>arr</a:t>
            </a:r>
            <a:r>
              <a:rPr lang="en-IN" dirty="0"/>
              <a:t>)</a:t>
            </a:r>
          </a:p>
          <a:p>
            <a:r>
              <a:rPr lang="en-IN" dirty="0"/>
              <a:t>    The method modifies the internal structure (content) of an object it does not own.</a:t>
            </a:r>
          </a:p>
          <a:p>
            <a:r>
              <a:rPr lang="en-IN" dirty="0"/>
              <a:t>    Can lead to unexpected side effects and reduced modularity.</a:t>
            </a:r>
          </a:p>
        </p:txBody>
      </p:sp>
      <p:sp>
        <p:nvSpPr>
          <p:cNvPr id="6" name="TextBox 5">
            <a:extLst>
              <a:ext uri="{FF2B5EF4-FFF2-40B4-BE49-F238E27FC236}">
                <a16:creationId xmlns:a16="http://schemas.microsoft.com/office/drawing/2014/main" id="{63672F03-26A7-AFDA-25B4-A4BEB0D28D5E}"/>
              </a:ext>
            </a:extLst>
          </p:cNvPr>
          <p:cNvSpPr txBox="1"/>
          <p:nvPr/>
        </p:nvSpPr>
        <p:spPr>
          <a:xfrm>
            <a:off x="86967" y="5206234"/>
            <a:ext cx="10627416" cy="1477328"/>
          </a:xfrm>
          <a:prstGeom prst="rect">
            <a:avLst/>
          </a:prstGeom>
          <a:noFill/>
        </p:spPr>
        <p:txBody>
          <a:bodyPr wrap="square">
            <a:spAutoFit/>
          </a:bodyPr>
          <a:lstStyle/>
          <a:p>
            <a:r>
              <a:rPr lang="en-IN" b="1" dirty="0"/>
              <a:t>Best-Suited Coupling Type:</a:t>
            </a:r>
          </a:p>
          <a:p>
            <a:pPr>
              <a:buFont typeface="Arial" panose="020B0604020202020204" pitchFamily="34" charset="0"/>
              <a:buChar char="•"/>
            </a:pPr>
            <a:r>
              <a:rPr lang="en-IN" b="1" dirty="0"/>
              <a:t>Stamp Coupling</a:t>
            </a:r>
            <a:r>
              <a:rPr lang="en-IN" dirty="0"/>
              <a:t> is the </a:t>
            </a:r>
            <a:r>
              <a:rPr lang="en-IN" b="1" dirty="0"/>
              <a:t>best choice</a:t>
            </a:r>
            <a:r>
              <a:rPr lang="en-IN" dirty="0"/>
              <a:t> among these because it </a:t>
            </a:r>
            <a:r>
              <a:rPr lang="en-IN" b="1" dirty="0"/>
              <a:t>reduces redundancy</a:t>
            </a:r>
            <a:r>
              <a:rPr lang="en-IN" dirty="0"/>
              <a:t> and </a:t>
            </a:r>
            <a:r>
              <a:rPr lang="en-IN" b="1" dirty="0"/>
              <a:t>improves modularity</a:t>
            </a:r>
            <a:r>
              <a:rPr lang="en-IN" dirty="0"/>
              <a:t> without exposing global states or modifying external structures.</a:t>
            </a:r>
          </a:p>
          <a:p>
            <a:pPr>
              <a:buFont typeface="Arial" panose="020B0604020202020204" pitchFamily="34" charset="0"/>
              <a:buChar char="•"/>
            </a:pPr>
            <a:r>
              <a:rPr lang="en-IN" b="1" dirty="0"/>
              <a:t>Common Coupling and Content Coupling should be avoided</a:t>
            </a:r>
            <a:r>
              <a:rPr lang="en-IN" dirty="0"/>
              <a:t> due to their high interdependency, which makes maintenance and debugging difficult.</a:t>
            </a:r>
          </a:p>
        </p:txBody>
      </p:sp>
    </p:spTree>
    <p:extLst>
      <p:ext uri="{BB962C8B-B14F-4D97-AF65-F5344CB8AC3E}">
        <p14:creationId xmlns:p14="http://schemas.microsoft.com/office/powerpoint/2010/main" val="38042109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37372D-9E53-0744-FA86-4D794B76F35C}"/>
              </a:ext>
            </a:extLst>
          </p:cNvPr>
          <p:cNvSpPr>
            <a:spLocks noGrp="1"/>
          </p:cNvSpPr>
          <p:nvPr>
            <p:ph idx="1"/>
          </p:nvPr>
        </p:nvSpPr>
        <p:spPr>
          <a:xfrm>
            <a:off x="838200" y="161925"/>
            <a:ext cx="10515600" cy="6015038"/>
          </a:xfrm>
        </p:spPr>
        <p:txBody>
          <a:bodyPr/>
          <a:lstStyle/>
          <a:p>
            <a:pPr marL="0" indent="0">
              <a:buNone/>
            </a:pPr>
            <a:r>
              <a:rPr lang="en-US" b="1" i="0" dirty="0">
                <a:solidFill>
                  <a:srgbClr val="273239"/>
                </a:solidFill>
                <a:effectLst/>
                <a:latin typeface="urw-din"/>
              </a:rPr>
              <a:t>Cohesion:</a:t>
            </a:r>
            <a:r>
              <a:rPr lang="en-US" b="0" i="0" dirty="0">
                <a:solidFill>
                  <a:srgbClr val="273239"/>
                </a:solidFill>
                <a:effectLst/>
                <a:latin typeface="urw-din"/>
              </a:rPr>
              <a:t> Cohesion is a measure of the degree to which the elements of the module are functionally related. It is the degree to which all elements directed towards performing a single task are contained in the component. Basically, cohesion is the internal glue that keeps the module together. A good software design will have high cohesion. </a:t>
            </a:r>
          </a:p>
          <a:p>
            <a:pPr marL="0" indent="0">
              <a:buNone/>
            </a:pPr>
            <a:endParaRPr lang="en-US" dirty="0">
              <a:solidFill>
                <a:srgbClr val="273239"/>
              </a:solidFill>
              <a:latin typeface="urw-din"/>
            </a:endParaRPr>
          </a:p>
          <a:p>
            <a:pPr algn="l" fontAlgn="base"/>
            <a:r>
              <a:rPr lang="en-US" b="1" i="0" dirty="0">
                <a:solidFill>
                  <a:srgbClr val="273239"/>
                </a:solidFill>
                <a:effectLst/>
                <a:latin typeface="urw-din"/>
              </a:rPr>
              <a:t>Types of Cohesion:</a:t>
            </a:r>
            <a:r>
              <a:rPr lang="en-US" b="0" i="0" dirty="0">
                <a:solidFill>
                  <a:srgbClr val="273239"/>
                </a:solidFill>
                <a:effectLst/>
                <a:latin typeface="urw-din"/>
              </a:rPr>
              <a:t> </a:t>
            </a:r>
          </a:p>
          <a:p>
            <a:pPr algn="l" fontAlgn="base">
              <a:buFont typeface="Arial" panose="020B0604020202020204" pitchFamily="34" charset="0"/>
              <a:buChar char="•"/>
            </a:pPr>
            <a:r>
              <a:rPr lang="en-US" b="1" i="0" dirty="0">
                <a:solidFill>
                  <a:srgbClr val="273239"/>
                </a:solidFill>
                <a:effectLst/>
                <a:latin typeface="urw-din"/>
              </a:rPr>
              <a:t>Functional Cohesion:</a:t>
            </a:r>
            <a:r>
              <a:rPr lang="en-US" b="0" i="0" dirty="0">
                <a:solidFill>
                  <a:srgbClr val="273239"/>
                </a:solidFill>
                <a:effectLst/>
                <a:latin typeface="urw-din"/>
              </a:rPr>
              <a:t> Every essential element for a single computation is contained in the component. A functional cohesion performs the task and functions. It is an ideal situation.</a:t>
            </a:r>
          </a:p>
          <a:p>
            <a:pPr algn="l" fontAlgn="base">
              <a:buFont typeface="Arial" panose="020B0604020202020204" pitchFamily="34" charset="0"/>
              <a:buChar char="•"/>
            </a:pPr>
            <a:r>
              <a:rPr lang="en-US" b="1" i="0" dirty="0">
                <a:solidFill>
                  <a:srgbClr val="273239"/>
                </a:solidFill>
                <a:effectLst/>
                <a:latin typeface="urw-din"/>
              </a:rPr>
              <a:t>Sequential Cohesion:</a:t>
            </a:r>
            <a:r>
              <a:rPr lang="en-US" b="0" i="0" dirty="0">
                <a:solidFill>
                  <a:srgbClr val="273239"/>
                </a:solidFill>
                <a:effectLst/>
                <a:latin typeface="urw-din"/>
              </a:rPr>
              <a:t> An element outputs some data that becomes the input for other element, i.e., data flow between the parts. It occurs naturally in functional programming languages.</a:t>
            </a:r>
          </a:p>
          <a:p>
            <a:pPr marL="0" indent="0">
              <a:buNone/>
            </a:pPr>
            <a:endParaRPr lang="en-US" dirty="0"/>
          </a:p>
        </p:txBody>
      </p:sp>
    </p:spTree>
    <p:extLst>
      <p:ext uri="{BB962C8B-B14F-4D97-AF65-F5344CB8AC3E}">
        <p14:creationId xmlns:p14="http://schemas.microsoft.com/office/powerpoint/2010/main" val="4228406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00C7FA-BE6D-261C-3607-E6D4753D9C01}"/>
              </a:ext>
            </a:extLst>
          </p:cNvPr>
          <p:cNvSpPr>
            <a:spLocks noGrp="1"/>
          </p:cNvSpPr>
          <p:nvPr>
            <p:ph idx="1"/>
          </p:nvPr>
        </p:nvSpPr>
        <p:spPr>
          <a:xfrm>
            <a:off x="838200" y="247650"/>
            <a:ext cx="10515600" cy="5929313"/>
          </a:xfrm>
        </p:spPr>
        <p:txBody>
          <a:bodyPr/>
          <a:lstStyle/>
          <a:p>
            <a:pPr algn="l" fontAlgn="base">
              <a:buFont typeface="Arial" panose="020B0604020202020204" pitchFamily="34" charset="0"/>
              <a:buChar char="•"/>
            </a:pPr>
            <a:r>
              <a:rPr lang="en-US" b="1" i="0" dirty="0">
                <a:solidFill>
                  <a:srgbClr val="273239"/>
                </a:solidFill>
                <a:effectLst/>
                <a:latin typeface="urw-din"/>
              </a:rPr>
              <a:t>Communicational Cohesion:</a:t>
            </a:r>
            <a:r>
              <a:rPr lang="en-US" b="0" i="0" dirty="0">
                <a:solidFill>
                  <a:srgbClr val="273239"/>
                </a:solidFill>
                <a:effectLst/>
                <a:latin typeface="urw-din"/>
              </a:rPr>
              <a:t> Two elements operate on the same input data or contribute towards the same output data. Example- update record in the database and send it to the printer.</a:t>
            </a:r>
          </a:p>
          <a:p>
            <a:pPr algn="l" fontAlgn="base">
              <a:buFont typeface="Arial" panose="020B0604020202020204" pitchFamily="34" charset="0"/>
              <a:buChar char="•"/>
            </a:pPr>
            <a:r>
              <a:rPr lang="en-US" b="1" i="0" dirty="0">
                <a:solidFill>
                  <a:srgbClr val="273239"/>
                </a:solidFill>
                <a:effectLst/>
                <a:latin typeface="urw-din"/>
              </a:rPr>
              <a:t>Procedural Cohesion:</a:t>
            </a:r>
            <a:r>
              <a:rPr lang="en-US" b="0" i="0" dirty="0">
                <a:solidFill>
                  <a:srgbClr val="273239"/>
                </a:solidFill>
                <a:effectLst/>
                <a:latin typeface="urw-din"/>
              </a:rPr>
              <a:t> Elements of procedural cohesion ensure the order of execution. Actions are still weakly connected and unlikely to be reusable. Ex- calculate student GPA, print student record, calculate cumulative GPA, print cumulative GPA.</a:t>
            </a:r>
          </a:p>
          <a:p>
            <a:pPr algn="l" fontAlgn="base">
              <a:buFont typeface="Arial" panose="020B0604020202020204" pitchFamily="34" charset="0"/>
              <a:buChar char="•"/>
            </a:pPr>
            <a:r>
              <a:rPr lang="en-US" b="1" i="0" dirty="0">
                <a:solidFill>
                  <a:srgbClr val="273239"/>
                </a:solidFill>
                <a:effectLst/>
                <a:latin typeface="urw-din"/>
              </a:rPr>
              <a:t>Temporal Cohesion:</a:t>
            </a:r>
            <a:r>
              <a:rPr lang="en-US" b="0" i="0" dirty="0">
                <a:solidFill>
                  <a:srgbClr val="273239"/>
                </a:solidFill>
                <a:effectLst/>
                <a:latin typeface="urw-din"/>
              </a:rPr>
              <a:t> The elements are related by their timing involved. A module connected with temporal cohesion all the tasks must be executed in the same time span. This cohesion contains the code for initializing all the parts of the system. Lots of different activities occur, all at unit time.</a:t>
            </a:r>
          </a:p>
          <a:p>
            <a:pPr marL="0" indent="0">
              <a:buNone/>
            </a:pPr>
            <a:endParaRPr lang="en-US" dirty="0"/>
          </a:p>
        </p:txBody>
      </p:sp>
    </p:spTree>
    <p:extLst>
      <p:ext uri="{BB962C8B-B14F-4D97-AF65-F5344CB8AC3E}">
        <p14:creationId xmlns:p14="http://schemas.microsoft.com/office/powerpoint/2010/main" val="23389836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527597-AD35-0BC9-9FDB-EEA0F6AF9E45}"/>
              </a:ext>
            </a:extLst>
          </p:cNvPr>
          <p:cNvSpPr>
            <a:spLocks noGrp="1"/>
          </p:cNvSpPr>
          <p:nvPr>
            <p:ph idx="1"/>
          </p:nvPr>
        </p:nvSpPr>
        <p:spPr>
          <a:xfrm>
            <a:off x="838200" y="238125"/>
            <a:ext cx="10515600" cy="5938838"/>
          </a:xfrm>
        </p:spPr>
        <p:txBody>
          <a:bodyPr/>
          <a:lstStyle/>
          <a:p>
            <a:pPr algn="l" fontAlgn="base">
              <a:buFont typeface="Arial" panose="020B0604020202020204" pitchFamily="34" charset="0"/>
              <a:buChar char="•"/>
            </a:pPr>
            <a:r>
              <a:rPr lang="en-US" b="1" i="0" dirty="0">
                <a:solidFill>
                  <a:srgbClr val="273239"/>
                </a:solidFill>
                <a:effectLst/>
                <a:latin typeface="urw-din"/>
              </a:rPr>
              <a:t>Logical Cohesion:</a:t>
            </a:r>
            <a:r>
              <a:rPr lang="en-US" b="0" i="0" dirty="0">
                <a:solidFill>
                  <a:srgbClr val="273239"/>
                </a:solidFill>
                <a:effectLst/>
                <a:latin typeface="urw-din"/>
              </a:rPr>
              <a:t> The elements are logically related and not functionally. Ex- A component reads inputs from tape, disk, and network. All the code for these functions is in the same component. Operations are related, but the functions are significantly different.</a:t>
            </a:r>
          </a:p>
          <a:p>
            <a:pPr algn="l" fontAlgn="base">
              <a:buFont typeface="Arial" panose="020B0604020202020204" pitchFamily="34" charset="0"/>
              <a:buChar char="•"/>
            </a:pPr>
            <a:r>
              <a:rPr lang="en-US" b="1" i="0" dirty="0">
                <a:solidFill>
                  <a:srgbClr val="273239"/>
                </a:solidFill>
                <a:effectLst/>
                <a:latin typeface="urw-din"/>
              </a:rPr>
              <a:t>Coincidental Cohesion:</a:t>
            </a:r>
            <a:r>
              <a:rPr lang="en-US" b="0" i="0" dirty="0">
                <a:solidFill>
                  <a:srgbClr val="273239"/>
                </a:solidFill>
                <a:effectLst/>
                <a:latin typeface="urw-din"/>
              </a:rPr>
              <a:t> The elements are not related(unrelated). The elements have no conceptual relationship other than location in source code. It is accidental and the worst form of cohesion. </a:t>
            </a:r>
            <a:r>
              <a:rPr lang="en-US" b="0" i="0">
                <a:solidFill>
                  <a:srgbClr val="273239"/>
                </a:solidFill>
                <a:effectLst/>
                <a:latin typeface="urw-din"/>
              </a:rPr>
              <a:t>Ex- print next line and reverse the characters of a string in a single component.</a:t>
            </a:r>
          </a:p>
          <a:p>
            <a:pPr marL="0" indent="0">
              <a:buNone/>
            </a:pPr>
            <a:endParaRPr lang="en-US" dirty="0"/>
          </a:p>
        </p:txBody>
      </p:sp>
    </p:spTree>
    <p:extLst>
      <p:ext uri="{BB962C8B-B14F-4D97-AF65-F5344CB8AC3E}">
        <p14:creationId xmlns:p14="http://schemas.microsoft.com/office/powerpoint/2010/main" val="35817199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C37BCD-F9C2-D90E-9DA9-E4D92531FDC2}"/>
              </a:ext>
            </a:extLst>
          </p:cNvPr>
          <p:cNvSpPr>
            <a:spLocks noGrp="1"/>
          </p:cNvSpPr>
          <p:nvPr>
            <p:ph type="title"/>
          </p:nvPr>
        </p:nvSpPr>
        <p:spPr>
          <a:xfrm>
            <a:off x="838200" y="365125"/>
            <a:ext cx="10515600" cy="894715"/>
          </a:xfrm>
        </p:spPr>
        <p:txBody>
          <a:bodyPr/>
          <a:lstStyle/>
          <a:p>
            <a:r>
              <a:rPr lang="en-US" dirty="0"/>
              <a:t>Example of Cohesion</a:t>
            </a:r>
          </a:p>
        </p:txBody>
      </p:sp>
      <p:sp>
        <p:nvSpPr>
          <p:cNvPr id="3" name="Content Placeholder 2">
            <a:extLst>
              <a:ext uri="{FF2B5EF4-FFF2-40B4-BE49-F238E27FC236}">
                <a16:creationId xmlns:a16="http://schemas.microsoft.com/office/drawing/2014/main" id="{727ADB14-C166-B456-7218-EB10F1BFF96D}"/>
              </a:ext>
            </a:extLst>
          </p:cNvPr>
          <p:cNvSpPr>
            <a:spLocks noGrp="1"/>
          </p:cNvSpPr>
          <p:nvPr>
            <p:ph sz="half" idx="1"/>
          </p:nvPr>
        </p:nvSpPr>
        <p:spPr>
          <a:xfrm>
            <a:off x="838200" y="1371600"/>
            <a:ext cx="5181600" cy="4805363"/>
          </a:xfrm>
        </p:spPr>
        <p:txBody>
          <a:bodyPr>
            <a:normAutofit fontScale="92500" lnSpcReduction="10000"/>
          </a:bodyPr>
          <a:lstStyle/>
          <a:p>
            <a:pPr marL="0" indent="0">
              <a:buNone/>
            </a:pPr>
            <a:r>
              <a:rPr lang="en-US" b="1" dirty="0"/>
              <a:t>Example: </a:t>
            </a:r>
            <a:r>
              <a:rPr lang="en-US" dirty="0"/>
              <a:t>Suppose we have a class that multiplies two numbers, but the same class creates a pop-up window displaying the result. This is an example of a low cohesive class because the window and the multiplication operation don’t have much in common. To make it high cohesive, we would have to create a class Display and a class Multiply. The Display will call </a:t>
            </a:r>
            <a:r>
              <a:rPr lang="en-US" dirty="0" err="1"/>
              <a:t>Multiply’s</a:t>
            </a:r>
            <a:r>
              <a:rPr lang="en-US" dirty="0"/>
              <a:t> method to get the result and display it. This way to develop a high cohesive solution.</a:t>
            </a:r>
          </a:p>
          <a:p>
            <a:pPr marL="0" indent="0">
              <a:buNone/>
            </a:pPr>
            <a:endParaRPr lang="en-US" dirty="0"/>
          </a:p>
        </p:txBody>
      </p:sp>
      <p:sp>
        <p:nvSpPr>
          <p:cNvPr id="6" name="Rectangle 2">
            <a:extLst>
              <a:ext uri="{FF2B5EF4-FFF2-40B4-BE49-F238E27FC236}">
                <a16:creationId xmlns:a16="http://schemas.microsoft.com/office/drawing/2014/main" id="{36CA8AE9-5EDE-4BE2-C5C2-5B8EED943506}"/>
              </a:ext>
            </a:extLst>
          </p:cNvPr>
          <p:cNvSpPr>
            <a:spLocks noGrp="1" noChangeArrowheads="1"/>
          </p:cNvSpPr>
          <p:nvPr>
            <p:ph sz="half" idx="2"/>
          </p:nvPr>
        </p:nvSpPr>
        <p:spPr bwMode="auto">
          <a:xfrm>
            <a:off x="6172200" y="1539082"/>
            <a:ext cx="4712829" cy="492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6699"/>
                </a:solidFill>
                <a:effectLst/>
                <a:latin typeface="Consolas" panose="020B0609020204030204" pitchFamily="49" charset="0"/>
              </a:rPr>
              <a:t>class</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Multiply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int</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a = </a:t>
            </a:r>
            <a:r>
              <a:rPr kumimoji="0" lang="en-US" altLang="en-US" sz="1600" b="0" i="0" u="none" strike="noStrike" cap="none" normalizeH="0" baseline="0" dirty="0">
                <a:ln>
                  <a:noFill/>
                </a:ln>
                <a:solidFill>
                  <a:srgbClr val="009900"/>
                </a:solidFill>
                <a:effectLst/>
                <a:latin typeface="Consolas" panose="020B0609020204030204" pitchFamily="49" charset="0"/>
              </a:rPr>
              <a:t>5</a:t>
            </a: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int</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b = </a:t>
            </a:r>
            <a:r>
              <a:rPr kumimoji="0" lang="en-US" altLang="en-US" sz="1600" b="0" i="0" u="none" strike="noStrike" cap="none" normalizeH="0" baseline="0" dirty="0">
                <a:ln>
                  <a:noFill/>
                </a:ln>
                <a:solidFill>
                  <a:srgbClr val="009900"/>
                </a:solidFill>
                <a:effectLst/>
                <a:latin typeface="Consolas" panose="020B0609020204030204" pitchFamily="49" charset="0"/>
              </a:rPr>
              <a:t>5</a:t>
            </a: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public</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int</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mul</a:t>
            </a:r>
            <a:r>
              <a:rPr kumimoji="0" lang="en-US" altLang="en-US" sz="1600" b="0" i="0" u="none" strike="noStrike" cap="none" normalizeH="0" baseline="0" dirty="0">
                <a:ln>
                  <a:noFill/>
                </a:ln>
                <a:solidFill>
                  <a:srgbClr val="000000"/>
                </a:solidFill>
                <a:effectLst/>
                <a:latin typeface="Consolas" panose="020B0609020204030204" pitchFamily="49" charset="0"/>
              </a:rPr>
              <a:t>(</a:t>
            </a:r>
            <a:r>
              <a:rPr kumimoji="0" lang="en-US" altLang="en-US" sz="1600" b="1" i="0" u="none" strike="noStrike" cap="none" normalizeH="0" baseline="0" dirty="0">
                <a:ln>
                  <a:noFill/>
                </a:ln>
                <a:solidFill>
                  <a:srgbClr val="006699"/>
                </a:solidFill>
                <a:effectLst/>
                <a:latin typeface="Consolas" panose="020B0609020204030204" pitchFamily="49" charset="0"/>
              </a:rPr>
              <a:t>int</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a, </a:t>
            </a:r>
            <a:r>
              <a:rPr kumimoji="0" lang="en-US" altLang="en-US" sz="1600" b="1" i="0" u="none" strike="noStrike" cap="none" normalizeH="0" baseline="0" dirty="0">
                <a:ln>
                  <a:noFill/>
                </a:ln>
                <a:solidFill>
                  <a:srgbClr val="006699"/>
                </a:solidFill>
                <a:effectLst/>
                <a:latin typeface="Consolas" panose="020B0609020204030204" pitchFamily="49" charset="0"/>
              </a:rPr>
              <a:t>int</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b)</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err="1">
                <a:ln>
                  <a:noFill/>
                </a:ln>
                <a:solidFill>
                  <a:srgbClr val="006699"/>
                </a:solidFill>
                <a:effectLst/>
                <a:latin typeface="Consolas" panose="020B0609020204030204" pitchFamily="49" charset="0"/>
              </a:rPr>
              <a:t>this</a:t>
            </a:r>
            <a:r>
              <a:rPr kumimoji="0" lang="en-US" altLang="en-US" sz="1600" b="0" i="0" u="none" strike="noStrike" cap="none" normalizeH="0" baseline="0" dirty="0" err="1">
                <a:ln>
                  <a:noFill/>
                </a:ln>
                <a:solidFill>
                  <a:srgbClr val="000000"/>
                </a:solidFill>
                <a:effectLst/>
                <a:latin typeface="Consolas" panose="020B0609020204030204" pitchFamily="49" charset="0"/>
              </a:rPr>
              <a:t>.a</a:t>
            </a:r>
            <a:r>
              <a:rPr kumimoji="0" lang="en-US" altLang="en-US" sz="1600" b="0" i="0" u="none" strike="noStrike" cap="none" normalizeH="0" baseline="0" dirty="0">
                <a:ln>
                  <a:noFill/>
                </a:ln>
                <a:solidFill>
                  <a:srgbClr val="000000"/>
                </a:solidFill>
                <a:effectLst/>
                <a:latin typeface="Consolas" panose="020B0609020204030204" pitchFamily="49" charset="0"/>
              </a:rPr>
              <a:t> = a;</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err="1">
                <a:ln>
                  <a:noFill/>
                </a:ln>
                <a:solidFill>
                  <a:srgbClr val="006699"/>
                </a:solidFill>
                <a:effectLst/>
                <a:latin typeface="Consolas" panose="020B0609020204030204" pitchFamily="49" charset="0"/>
              </a:rPr>
              <a:t>this</a:t>
            </a:r>
            <a:r>
              <a:rPr kumimoji="0" lang="en-US" altLang="en-US" sz="1600" b="0" i="0" u="none" strike="noStrike" cap="none" normalizeH="0" baseline="0" dirty="0" err="1">
                <a:ln>
                  <a:noFill/>
                </a:ln>
                <a:solidFill>
                  <a:srgbClr val="000000"/>
                </a:solidFill>
                <a:effectLst/>
                <a:latin typeface="Consolas" panose="020B0609020204030204" pitchFamily="49" charset="0"/>
              </a:rPr>
              <a:t>.b</a:t>
            </a:r>
            <a:r>
              <a:rPr kumimoji="0" lang="en-US" altLang="en-US" sz="1600" b="0" i="0" u="none" strike="noStrike" cap="none" normalizeH="0" baseline="0" dirty="0">
                <a:ln>
                  <a:noFill/>
                </a:ln>
                <a:solidFill>
                  <a:srgbClr val="000000"/>
                </a:solidFill>
                <a:effectLst/>
                <a:latin typeface="Consolas" panose="020B0609020204030204" pitchFamily="49" charset="0"/>
              </a:rPr>
              <a:t> = b;</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return</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a * b;</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6699"/>
                </a:solidFill>
                <a:effectLst/>
                <a:latin typeface="Consolas" panose="020B0609020204030204" pitchFamily="49" charset="0"/>
              </a:rPr>
              <a:t>class</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Display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public</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static</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void</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main(String[] </a:t>
            </a:r>
            <a:r>
              <a:rPr kumimoji="0" lang="en-US" altLang="en-US" sz="1600" b="0" i="0" u="none" strike="noStrike" cap="none" normalizeH="0" baseline="0" dirty="0" err="1">
                <a:ln>
                  <a:noFill/>
                </a:ln>
                <a:solidFill>
                  <a:srgbClr val="000000"/>
                </a:solidFill>
                <a:effectLst/>
                <a:latin typeface="Consolas" panose="020B0609020204030204" pitchFamily="49" charset="0"/>
              </a:rPr>
              <a:t>args</a:t>
            </a: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Multiply m = </a:t>
            </a:r>
            <a:r>
              <a:rPr kumimoji="0" lang="en-US" altLang="en-US" sz="1600" b="1" i="0" u="none" strike="noStrike" cap="none" normalizeH="0" baseline="0" dirty="0">
                <a:ln>
                  <a:noFill/>
                </a:ln>
                <a:solidFill>
                  <a:srgbClr val="006699"/>
                </a:solidFill>
                <a:effectLst/>
                <a:latin typeface="Consolas" panose="020B0609020204030204" pitchFamily="49" charset="0"/>
              </a:rPr>
              <a:t>new</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Multiply();</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System.out.println</a:t>
            </a:r>
            <a:r>
              <a:rPr kumimoji="0" lang="en-US" altLang="en-US" sz="1600" b="0" i="0" u="none" strike="noStrike" cap="none" normalizeH="0" baseline="0" dirty="0">
                <a:ln>
                  <a:noFill/>
                </a:ln>
                <a:solidFill>
                  <a:srgbClr val="000000"/>
                </a:solidFill>
                <a:effectLst/>
                <a:latin typeface="Consolas" panose="020B0609020204030204" pitchFamily="49" charset="0"/>
              </a:rPr>
              <a:t>(</a:t>
            </a:r>
            <a:r>
              <a:rPr kumimoji="0" lang="en-US" altLang="en-US" sz="1600" b="0" i="0" u="none" strike="noStrike" cap="none" normalizeH="0" baseline="0" dirty="0" err="1">
                <a:ln>
                  <a:noFill/>
                </a:ln>
                <a:solidFill>
                  <a:srgbClr val="000000"/>
                </a:solidFill>
                <a:effectLst/>
                <a:latin typeface="Consolas" panose="020B0609020204030204" pitchFamily="49" charset="0"/>
              </a:rPr>
              <a:t>m.mul</a:t>
            </a:r>
            <a:r>
              <a:rPr kumimoji="0" lang="en-US" altLang="en-US" sz="1600" b="0" i="0" u="none" strike="noStrike" cap="none" normalizeH="0" baseline="0" dirty="0">
                <a:ln>
                  <a:noFill/>
                </a:ln>
                <a:solidFill>
                  <a:srgbClr val="000000"/>
                </a:solidFill>
                <a:effectLst/>
                <a:latin typeface="Consolas" panose="020B0609020204030204" pitchFamily="49" charset="0"/>
              </a:rPr>
              <a:t>(</a:t>
            </a:r>
            <a:r>
              <a:rPr kumimoji="0" lang="en-US" altLang="en-US" sz="1600" b="0" i="0" u="none" strike="noStrike" cap="none" normalizeH="0" baseline="0" dirty="0">
                <a:ln>
                  <a:noFill/>
                </a:ln>
                <a:solidFill>
                  <a:srgbClr val="009900"/>
                </a:solidFill>
                <a:effectLst/>
                <a:latin typeface="Consolas" panose="020B0609020204030204" pitchFamily="49" charset="0"/>
              </a:rPr>
              <a:t>5</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009900"/>
                </a:solidFill>
                <a:effectLst/>
                <a:latin typeface="Consolas" panose="020B0609020204030204" pitchFamily="49" charset="0"/>
              </a:rPr>
              <a:t>5</a:t>
            </a: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06642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EB0E6C8-BFFA-8107-B4A3-82B441EDB028}"/>
              </a:ext>
            </a:extLst>
          </p:cNvPr>
          <p:cNvSpPr>
            <a:spLocks noGrp="1"/>
          </p:cNvSpPr>
          <p:nvPr>
            <p:ph type="title"/>
          </p:nvPr>
        </p:nvSpPr>
        <p:spPr>
          <a:xfrm>
            <a:off x="838200" y="365125"/>
            <a:ext cx="10515600" cy="772795"/>
          </a:xfrm>
        </p:spPr>
        <p:txBody>
          <a:bodyPr/>
          <a:lstStyle/>
          <a:p>
            <a:r>
              <a:rPr lang="en-US" dirty="0"/>
              <a:t>Solution</a:t>
            </a:r>
          </a:p>
        </p:txBody>
      </p:sp>
      <p:sp>
        <p:nvSpPr>
          <p:cNvPr id="7" name="Content Placeholder 6">
            <a:extLst>
              <a:ext uri="{FF2B5EF4-FFF2-40B4-BE49-F238E27FC236}">
                <a16:creationId xmlns:a16="http://schemas.microsoft.com/office/drawing/2014/main" id="{E15F27DB-4B8B-3134-9DE3-A411B5F27001}"/>
              </a:ext>
            </a:extLst>
          </p:cNvPr>
          <p:cNvSpPr>
            <a:spLocks noGrp="1"/>
          </p:cNvSpPr>
          <p:nvPr>
            <p:ph idx="1"/>
          </p:nvPr>
        </p:nvSpPr>
        <p:spPr>
          <a:xfrm>
            <a:off x="838200" y="985520"/>
            <a:ext cx="10515600" cy="5191443"/>
          </a:xfrm>
        </p:spPr>
        <p:txBody>
          <a:bodyPr/>
          <a:lstStyle/>
          <a:p>
            <a:pPr marL="0" indent="0">
              <a:buNone/>
            </a:pPr>
            <a:r>
              <a:rPr lang="en-US" dirty="0"/>
              <a:t>The type of cohesion in this code is functional cohesion.</a:t>
            </a:r>
          </a:p>
          <a:p>
            <a:pPr marL="0" indent="0">
              <a:buNone/>
            </a:pPr>
            <a:endParaRPr lang="en-US" dirty="0"/>
          </a:p>
          <a:p>
            <a:pPr marL="0" indent="0">
              <a:buNone/>
            </a:pPr>
            <a:r>
              <a:rPr lang="en-US" dirty="0"/>
              <a:t>Functional cohesion occurs when the methods or functions within a module are related by a single task or functionality. In this code, the </a:t>
            </a:r>
            <a:r>
              <a:rPr lang="en-US" dirty="0" err="1"/>
              <a:t>mul</a:t>
            </a:r>
            <a:r>
              <a:rPr lang="en-US" dirty="0"/>
              <a:t> method of the Multiply class performs a single task, which is multiplying two integers and returning the result. The variables a and b are also related to this task, as they are the operands being multiplied.</a:t>
            </a:r>
          </a:p>
          <a:p>
            <a:pPr marL="0" indent="0">
              <a:buNone/>
            </a:pPr>
            <a:endParaRPr lang="en-US" dirty="0"/>
          </a:p>
          <a:p>
            <a:pPr marL="0" indent="0">
              <a:buNone/>
            </a:pPr>
            <a:r>
              <a:rPr lang="en-US" dirty="0"/>
              <a:t>Therefore, the Multiply class exhibits functional cohesion.</a:t>
            </a:r>
          </a:p>
        </p:txBody>
      </p:sp>
    </p:spTree>
    <p:extLst>
      <p:ext uri="{BB962C8B-B14F-4D97-AF65-F5344CB8AC3E}">
        <p14:creationId xmlns:p14="http://schemas.microsoft.com/office/powerpoint/2010/main" val="6151005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3FB9CA-7EF9-EE69-4B05-B0E3D8C96181}"/>
              </a:ext>
            </a:extLst>
          </p:cNvPr>
          <p:cNvSpPr txBox="1"/>
          <p:nvPr/>
        </p:nvSpPr>
        <p:spPr>
          <a:xfrm>
            <a:off x="0" y="126975"/>
            <a:ext cx="6736080" cy="6362896"/>
          </a:xfrm>
          <a:prstGeom prst="rect">
            <a:avLst/>
          </a:prstGeom>
          <a:noFill/>
        </p:spPr>
        <p:txBody>
          <a:bodyPr wrap="square">
            <a:spAutoFit/>
          </a:bodyPr>
          <a:lstStyle/>
          <a:p>
            <a:pPr>
              <a:lnSpc>
                <a:spcPct val="107000"/>
              </a:lnSpc>
              <a:spcAft>
                <a:spcPts val="800"/>
              </a:spcAft>
            </a:pPr>
            <a:r>
              <a:rPr lang="en-IN" sz="1800" b="1" kern="100" dirty="0">
                <a:effectLst/>
                <a:latin typeface="Aptos" panose="020B0004020202020204" pitchFamily="34" charset="0"/>
                <a:ea typeface="Aptos" panose="020B0004020202020204" pitchFamily="34" charset="0"/>
                <a:cs typeface="Mangal" panose="02040503050203030202" pitchFamily="18" charset="0"/>
              </a:rPr>
              <a:t>// High Cohesion &amp; Low Coupling Example</a:t>
            </a:r>
            <a:endParaRPr lang="en-IN" sz="1800" kern="100" dirty="0">
              <a:effectLst/>
              <a:latin typeface="Aptos" panose="020B0004020202020204" pitchFamily="34" charset="0"/>
              <a:ea typeface="Aptos" panose="020B0004020202020204" pitchFamily="34" charset="0"/>
              <a:cs typeface="Mangal" panose="02040503050203030202" pitchFamily="18" charset="0"/>
            </a:endParaRP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Mangal" panose="02040503050203030202" pitchFamily="18" charset="0"/>
              </a:rPr>
              <a:t>class Calculator {</a:t>
            </a:r>
          </a:p>
          <a:p>
            <a:pPr>
              <a:lnSpc>
                <a:spcPct val="107000"/>
              </a:lnSpc>
              <a:spcAft>
                <a:spcPts val="800"/>
              </a:spcAft>
            </a:pPr>
            <a:r>
              <a:rPr lang="en-IN" sz="1800" b="1" kern="100" dirty="0">
                <a:effectLst/>
                <a:latin typeface="Aptos" panose="020B0004020202020204" pitchFamily="34" charset="0"/>
                <a:ea typeface="Aptos" panose="020B0004020202020204" pitchFamily="34" charset="0"/>
                <a:cs typeface="Mangal" panose="02040503050203030202" pitchFamily="18" charset="0"/>
              </a:rPr>
              <a:t>// High Cohesion: All methods are related to calculations</a:t>
            </a:r>
            <a:endParaRPr lang="en-IN" sz="1800" kern="100" dirty="0">
              <a:effectLst/>
              <a:latin typeface="Aptos" panose="020B0004020202020204" pitchFamily="34" charset="0"/>
              <a:ea typeface="Aptos" panose="020B0004020202020204" pitchFamily="34" charset="0"/>
              <a:cs typeface="Mangal" panose="02040503050203030202" pitchFamily="18" charset="0"/>
            </a:endParaRP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Mangal" panose="02040503050203030202" pitchFamily="18" charset="0"/>
              </a:rPr>
              <a:t>    public int add(int a, int b) {</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Mangal" panose="02040503050203030202" pitchFamily="18" charset="0"/>
              </a:rPr>
              <a:t>        return a + b;</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Mangal" panose="02040503050203030202" pitchFamily="18" charset="0"/>
              </a:rPr>
              <a:t>    }</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Mangal" panose="02040503050203030202" pitchFamily="18" charset="0"/>
              </a:rPr>
              <a:t>    public int multiply(int a, int b) {</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Mangal" panose="02040503050203030202" pitchFamily="18" charset="0"/>
              </a:rPr>
              <a:t>        return a * b;</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Mangal" panose="02040503050203030202" pitchFamily="18" charset="0"/>
              </a:rPr>
              <a:t>    }</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Mangal" panose="02040503050203030202" pitchFamily="18" charset="0"/>
              </a:rPr>
              <a:t>}</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Mangal" panose="02040503050203030202" pitchFamily="18" charset="0"/>
              </a:rPr>
              <a:t>class Display {</a:t>
            </a:r>
          </a:p>
          <a:p>
            <a:pPr>
              <a:lnSpc>
                <a:spcPct val="107000"/>
              </a:lnSpc>
              <a:spcAft>
                <a:spcPts val="800"/>
              </a:spcAft>
            </a:pPr>
            <a:r>
              <a:rPr lang="en-IN" sz="1800" b="1" kern="100" dirty="0">
                <a:effectLst/>
                <a:latin typeface="Aptos" panose="020B0004020202020204" pitchFamily="34" charset="0"/>
                <a:ea typeface="Aptos" panose="020B0004020202020204" pitchFamily="34" charset="0"/>
                <a:cs typeface="Mangal" panose="02040503050203030202" pitchFamily="18" charset="0"/>
              </a:rPr>
              <a:t> // Low Coupling: Separate responsibility for displaying results</a:t>
            </a:r>
            <a:endParaRPr lang="en-IN" sz="1800" kern="100" dirty="0">
              <a:effectLst/>
              <a:latin typeface="Aptos" panose="020B0004020202020204" pitchFamily="34" charset="0"/>
              <a:ea typeface="Aptos" panose="020B0004020202020204" pitchFamily="34" charset="0"/>
              <a:cs typeface="Mangal" panose="02040503050203030202" pitchFamily="18" charset="0"/>
            </a:endParaRP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Mangal" panose="02040503050203030202" pitchFamily="18" charset="0"/>
              </a:rPr>
              <a:t>    public void </a:t>
            </a:r>
            <a:r>
              <a:rPr lang="en-IN" sz="1800" kern="100" dirty="0" err="1">
                <a:effectLst/>
                <a:latin typeface="Aptos" panose="020B0004020202020204" pitchFamily="34" charset="0"/>
                <a:ea typeface="Aptos" panose="020B0004020202020204" pitchFamily="34" charset="0"/>
                <a:cs typeface="Mangal" panose="02040503050203030202" pitchFamily="18" charset="0"/>
              </a:rPr>
              <a:t>showResult</a:t>
            </a:r>
            <a:r>
              <a:rPr lang="en-IN" sz="1800" kern="100" dirty="0">
                <a:effectLst/>
                <a:latin typeface="Aptos" panose="020B0004020202020204" pitchFamily="34" charset="0"/>
                <a:ea typeface="Aptos" panose="020B0004020202020204" pitchFamily="34" charset="0"/>
                <a:cs typeface="Mangal" panose="02040503050203030202" pitchFamily="18" charset="0"/>
              </a:rPr>
              <a:t>(int result) {</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Mangal" panose="02040503050203030202" pitchFamily="18" charset="0"/>
              </a:rPr>
              <a:t>        </a:t>
            </a:r>
            <a:r>
              <a:rPr lang="en-IN" sz="1800" kern="100" dirty="0" err="1">
                <a:effectLst/>
                <a:latin typeface="Aptos" panose="020B0004020202020204" pitchFamily="34" charset="0"/>
                <a:ea typeface="Aptos" panose="020B0004020202020204" pitchFamily="34" charset="0"/>
                <a:cs typeface="Mangal" panose="02040503050203030202" pitchFamily="18" charset="0"/>
              </a:rPr>
              <a:t>System.out.println</a:t>
            </a:r>
            <a:r>
              <a:rPr lang="en-IN" sz="1800" kern="100" dirty="0">
                <a:effectLst/>
                <a:latin typeface="Aptos" panose="020B0004020202020204" pitchFamily="34" charset="0"/>
                <a:ea typeface="Aptos" panose="020B0004020202020204" pitchFamily="34" charset="0"/>
                <a:cs typeface="Mangal" panose="02040503050203030202" pitchFamily="18" charset="0"/>
              </a:rPr>
              <a:t>("Result: " + result);</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Mangal" panose="02040503050203030202" pitchFamily="18" charset="0"/>
              </a:rPr>
              <a:t>    }</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Mangal" panose="02040503050203030202" pitchFamily="18" charset="0"/>
              </a:rPr>
              <a:t>}</a:t>
            </a:r>
          </a:p>
        </p:txBody>
      </p:sp>
      <p:sp>
        <p:nvSpPr>
          <p:cNvPr id="5" name="TextBox 4">
            <a:extLst>
              <a:ext uri="{FF2B5EF4-FFF2-40B4-BE49-F238E27FC236}">
                <a16:creationId xmlns:a16="http://schemas.microsoft.com/office/drawing/2014/main" id="{FD5A13EC-6258-9E3D-E0BC-989336F68042}"/>
              </a:ext>
            </a:extLst>
          </p:cNvPr>
          <p:cNvSpPr txBox="1"/>
          <p:nvPr/>
        </p:nvSpPr>
        <p:spPr>
          <a:xfrm>
            <a:off x="6244590" y="126975"/>
            <a:ext cx="5947410" cy="4368119"/>
          </a:xfrm>
          <a:prstGeom prst="rect">
            <a:avLst/>
          </a:prstGeom>
          <a:noFill/>
        </p:spPr>
        <p:txBody>
          <a:bodyPr wrap="square">
            <a:spAutoFit/>
          </a:bodyPr>
          <a:lstStyle/>
          <a:p>
            <a:pPr>
              <a:lnSpc>
                <a:spcPct val="107000"/>
              </a:lnSpc>
              <a:spcAft>
                <a:spcPts val="800"/>
              </a:spcAft>
            </a:pPr>
            <a:r>
              <a:rPr lang="en-IN" sz="1800" kern="100" dirty="0">
                <a:effectLst/>
                <a:latin typeface="Aptos" panose="020B0004020202020204" pitchFamily="34" charset="0"/>
                <a:ea typeface="Aptos" panose="020B0004020202020204" pitchFamily="34" charset="0"/>
                <a:cs typeface="Mangal" panose="02040503050203030202" pitchFamily="18" charset="0"/>
              </a:rPr>
              <a:t>public class </a:t>
            </a:r>
            <a:r>
              <a:rPr lang="en-IN" sz="1800" kern="100" dirty="0" err="1">
                <a:effectLst/>
                <a:latin typeface="Aptos" panose="020B0004020202020204" pitchFamily="34" charset="0"/>
                <a:ea typeface="Aptos" panose="020B0004020202020204" pitchFamily="34" charset="0"/>
                <a:cs typeface="Mangal" panose="02040503050203030202" pitchFamily="18" charset="0"/>
              </a:rPr>
              <a:t>CouplingCohesionExample</a:t>
            </a:r>
            <a:r>
              <a:rPr lang="en-IN" sz="1800" kern="100" dirty="0">
                <a:effectLst/>
                <a:latin typeface="Aptos" panose="020B0004020202020204" pitchFamily="34" charset="0"/>
                <a:ea typeface="Aptos" panose="020B0004020202020204" pitchFamily="34" charset="0"/>
                <a:cs typeface="Mangal" panose="02040503050203030202" pitchFamily="18" charset="0"/>
              </a:rPr>
              <a:t> {</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Mangal" panose="02040503050203030202" pitchFamily="18" charset="0"/>
              </a:rPr>
              <a:t>    public static void main(String[] </a:t>
            </a:r>
            <a:r>
              <a:rPr lang="en-IN" sz="1800" kern="100" dirty="0" err="1">
                <a:effectLst/>
                <a:latin typeface="Aptos" panose="020B0004020202020204" pitchFamily="34" charset="0"/>
                <a:ea typeface="Aptos" panose="020B0004020202020204" pitchFamily="34" charset="0"/>
                <a:cs typeface="Mangal" panose="02040503050203030202" pitchFamily="18" charset="0"/>
              </a:rPr>
              <a:t>args</a:t>
            </a:r>
            <a:r>
              <a:rPr lang="en-IN" sz="1800" kern="100" dirty="0">
                <a:effectLst/>
                <a:latin typeface="Aptos" panose="020B0004020202020204" pitchFamily="34" charset="0"/>
                <a:ea typeface="Aptos" panose="020B0004020202020204" pitchFamily="34" charset="0"/>
                <a:cs typeface="Mangal" panose="02040503050203030202" pitchFamily="18" charset="0"/>
              </a:rPr>
              <a:t>) {</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Mangal" panose="02040503050203030202" pitchFamily="18" charset="0"/>
              </a:rPr>
              <a:t>      Calculator calc = new Calculator();  </a:t>
            </a:r>
            <a:r>
              <a:rPr lang="en-IN" sz="1800" b="1" kern="100" dirty="0">
                <a:effectLst/>
                <a:latin typeface="Aptos" panose="020B0004020202020204" pitchFamily="34" charset="0"/>
                <a:ea typeface="Aptos" panose="020B0004020202020204" pitchFamily="34" charset="0"/>
                <a:cs typeface="Mangal" panose="02040503050203030202" pitchFamily="18" charset="0"/>
              </a:rPr>
              <a:t>// Low Coupling:</a:t>
            </a:r>
          </a:p>
          <a:p>
            <a:pPr>
              <a:lnSpc>
                <a:spcPct val="107000"/>
              </a:lnSpc>
              <a:spcAft>
                <a:spcPts val="800"/>
              </a:spcAft>
            </a:pPr>
            <a:r>
              <a:rPr lang="en-IN" b="1" kern="100" dirty="0">
                <a:latin typeface="Aptos" panose="020B0004020202020204" pitchFamily="34" charset="0"/>
                <a:ea typeface="Aptos" panose="020B0004020202020204" pitchFamily="34" charset="0"/>
                <a:cs typeface="Mangal" panose="02040503050203030202" pitchFamily="18" charset="0"/>
              </a:rPr>
              <a:t>                                                                                  </a:t>
            </a:r>
            <a:r>
              <a:rPr lang="en-IN" sz="1800" b="1" kern="100" dirty="0">
                <a:effectLst/>
                <a:latin typeface="Aptos" panose="020B0004020202020204" pitchFamily="34" charset="0"/>
                <a:ea typeface="Aptos" panose="020B0004020202020204" pitchFamily="34" charset="0"/>
                <a:cs typeface="Mangal" panose="02040503050203030202" pitchFamily="18" charset="0"/>
              </a:rPr>
              <a:t> Independent class</a:t>
            </a:r>
            <a:endParaRPr lang="en-IN" sz="1800" kern="100" dirty="0">
              <a:effectLst/>
              <a:latin typeface="Aptos" panose="020B0004020202020204" pitchFamily="34" charset="0"/>
              <a:ea typeface="Aptos" panose="020B0004020202020204" pitchFamily="34" charset="0"/>
              <a:cs typeface="Mangal" panose="02040503050203030202" pitchFamily="18" charset="0"/>
            </a:endParaRP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Mangal" panose="02040503050203030202" pitchFamily="18" charset="0"/>
              </a:rPr>
              <a:t>        Display </a:t>
            </a:r>
            <a:r>
              <a:rPr lang="en-IN" sz="1800" kern="100" dirty="0" err="1">
                <a:effectLst/>
                <a:latin typeface="Aptos" panose="020B0004020202020204" pitchFamily="34" charset="0"/>
                <a:ea typeface="Aptos" panose="020B0004020202020204" pitchFamily="34" charset="0"/>
                <a:cs typeface="Mangal" panose="02040503050203030202" pitchFamily="18" charset="0"/>
              </a:rPr>
              <a:t>display</a:t>
            </a:r>
            <a:r>
              <a:rPr lang="en-IN" sz="1800" kern="100" dirty="0">
                <a:effectLst/>
                <a:latin typeface="Aptos" panose="020B0004020202020204" pitchFamily="34" charset="0"/>
                <a:ea typeface="Aptos" panose="020B0004020202020204" pitchFamily="34" charset="0"/>
                <a:cs typeface="Mangal" panose="02040503050203030202" pitchFamily="18" charset="0"/>
              </a:rPr>
              <a:t> = new Display();   </a:t>
            </a:r>
            <a:r>
              <a:rPr lang="en-IN" sz="1800" b="1" kern="100" dirty="0">
                <a:effectLst/>
                <a:latin typeface="Aptos" panose="020B0004020202020204" pitchFamily="34" charset="0"/>
                <a:ea typeface="Aptos" panose="020B0004020202020204" pitchFamily="34" charset="0"/>
                <a:cs typeface="Mangal" panose="02040503050203030202" pitchFamily="18" charset="0"/>
              </a:rPr>
              <a:t>// Separate class for</a:t>
            </a:r>
          </a:p>
          <a:p>
            <a:pPr>
              <a:lnSpc>
                <a:spcPct val="107000"/>
              </a:lnSpc>
              <a:spcAft>
                <a:spcPts val="800"/>
              </a:spcAft>
            </a:pPr>
            <a:r>
              <a:rPr lang="en-IN" b="1" kern="100" dirty="0">
                <a:latin typeface="Aptos" panose="020B0004020202020204" pitchFamily="34" charset="0"/>
                <a:ea typeface="Aptos" panose="020B0004020202020204" pitchFamily="34" charset="0"/>
                <a:cs typeface="Mangal" panose="02040503050203030202" pitchFamily="18" charset="0"/>
              </a:rPr>
              <a:t>                                                                                   </a:t>
            </a:r>
            <a:r>
              <a:rPr lang="en-IN" sz="1800" b="1" kern="100" dirty="0">
                <a:effectLst/>
                <a:latin typeface="Aptos" panose="020B0004020202020204" pitchFamily="34" charset="0"/>
                <a:ea typeface="Aptos" panose="020B0004020202020204" pitchFamily="34" charset="0"/>
                <a:cs typeface="Mangal" panose="02040503050203030202" pitchFamily="18" charset="0"/>
              </a:rPr>
              <a:t>  output</a:t>
            </a:r>
            <a:endParaRPr lang="en-IN" sz="1800" kern="100" dirty="0">
              <a:effectLst/>
              <a:latin typeface="Aptos" panose="020B0004020202020204" pitchFamily="34" charset="0"/>
              <a:ea typeface="Aptos" panose="020B0004020202020204" pitchFamily="34" charset="0"/>
              <a:cs typeface="Mangal" panose="02040503050203030202" pitchFamily="18" charset="0"/>
            </a:endParaRP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Mangal" panose="02040503050203030202" pitchFamily="18" charset="0"/>
              </a:rPr>
              <a:t>        int sum = </a:t>
            </a:r>
            <a:r>
              <a:rPr lang="en-IN" sz="1800" kern="100" dirty="0" err="1">
                <a:effectLst/>
                <a:latin typeface="Aptos" panose="020B0004020202020204" pitchFamily="34" charset="0"/>
                <a:ea typeface="Aptos" panose="020B0004020202020204" pitchFamily="34" charset="0"/>
                <a:cs typeface="Mangal" panose="02040503050203030202" pitchFamily="18" charset="0"/>
              </a:rPr>
              <a:t>calc.add</a:t>
            </a:r>
            <a:r>
              <a:rPr lang="en-IN" sz="1800" kern="100" dirty="0">
                <a:effectLst/>
                <a:latin typeface="Aptos" panose="020B0004020202020204" pitchFamily="34" charset="0"/>
                <a:ea typeface="Aptos" panose="020B0004020202020204" pitchFamily="34" charset="0"/>
                <a:cs typeface="Mangal" panose="02040503050203030202" pitchFamily="18" charset="0"/>
              </a:rPr>
              <a:t>(5, 3);</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Mangal" panose="02040503050203030202" pitchFamily="18" charset="0"/>
              </a:rPr>
              <a:t>        </a:t>
            </a:r>
            <a:r>
              <a:rPr lang="en-IN" sz="1800" kern="100" dirty="0" err="1">
                <a:effectLst/>
                <a:latin typeface="Aptos" panose="020B0004020202020204" pitchFamily="34" charset="0"/>
                <a:ea typeface="Aptos" panose="020B0004020202020204" pitchFamily="34" charset="0"/>
                <a:cs typeface="Mangal" panose="02040503050203030202" pitchFamily="18" charset="0"/>
              </a:rPr>
              <a:t>display.showResult</a:t>
            </a:r>
            <a:r>
              <a:rPr lang="en-IN" sz="1800" kern="100" dirty="0">
                <a:effectLst/>
                <a:latin typeface="Aptos" panose="020B0004020202020204" pitchFamily="34" charset="0"/>
                <a:ea typeface="Aptos" panose="020B0004020202020204" pitchFamily="34" charset="0"/>
                <a:cs typeface="Mangal" panose="02040503050203030202" pitchFamily="18" charset="0"/>
              </a:rPr>
              <a:t>(sum);</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Mangal" panose="02040503050203030202" pitchFamily="18" charset="0"/>
              </a:rPr>
              <a:t>        int product = </a:t>
            </a:r>
            <a:r>
              <a:rPr lang="en-IN" sz="1800" kern="100" dirty="0" err="1">
                <a:effectLst/>
                <a:latin typeface="Aptos" panose="020B0004020202020204" pitchFamily="34" charset="0"/>
                <a:ea typeface="Aptos" panose="020B0004020202020204" pitchFamily="34" charset="0"/>
                <a:cs typeface="Mangal" panose="02040503050203030202" pitchFamily="18" charset="0"/>
              </a:rPr>
              <a:t>calc.multiply</a:t>
            </a:r>
            <a:r>
              <a:rPr lang="en-IN" sz="1800" kern="100" dirty="0">
                <a:effectLst/>
                <a:latin typeface="Aptos" panose="020B0004020202020204" pitchFamily="34" charset="0"/>
                <a:ea typeface="Aptos" panose="020B0004020202020204" pitchFamily="34" charset="0"/>
                <a:cs typeface="Mangal" panose="02040503050203030202" pitchFamily="18" charset="0"/>
              </a:rPr>
              <a:t>(4, 2);</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Mangal" panose="02040503050203030202" pitchFamily="18" charset="0"/>
              </a:rPr>
              <a:t>        </a:t>
            </a:r>
            <a:r>
              <a:rPr lang="en-IN" sz="1800" kern="100" dirty="0" err="1">
                <a:effectLst/>
                <a:latin typeface="Aptos" panose="020B0004020202020204" pitchFamily="34" charset="0"/>
                <a:ea typeface="Aptos" panose="020B0004020202020204" pitchFamily="34" charset="0"/>
                <a:cs typeface="Mangal" panose="02040503050203030202" pitchFamily="18" charset="0"/>
              </a:rPr>
              <a:t>display.showResult</a:t>
            </a:r>
            <a:r>
              <a:rPr lang="en-IN" sz="1800" kern="100" dirty="0">
                <a:effectLst/>
                <a:latin typeface="Aptos" panose="020B0004020202020204" pitchFamily="34" charset="0"/>
                <a:ea typeface="Aptos" panose="020B0004020202020204" pitchFamily="34" charset="0"/>
                <a:cs typeface="Mangal" panose="02040503050203030202" pitchFamily="18" charset="0"/>
              </a:rPr>
              <a:t>(product);</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Mangal" panose="02040503050203030202" pitchFamily="18" charset="0"/>
              </a:rPr>
              <a:t>          } }</a:t>
            </a:r>
          </a:p>
        </p:txBody>
      </p:sp>
    </p:spTree>
    <p:extLst>
      <p:ext uri="{BB962C8B-B14F-4D97-AF65-F5344CB8AC3E}">
        <p14:creationId xmlns:p14="http://schemas.microsoft.com/office/powerpoint/2010/main" val="1349133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76B39B-9D26-1F38-3CCB-EADBD959A3CB}"/>
              </a:ext>
            </a:extLst>
          </p:cNvPr>
          <p:cNvSpPr txBox="1"/>
          <p:nvPr/>
        </p:nvSpPr>
        <p:spPr>
          <a:xfrm>
            <a:off x="419100" y="357429"/>
            <a:ext cx="10883900" cy="3171253"/>
          </a:xfrm>
          <a:prstGeom prst="rect">
            <a:avLst/>
          </a:prstGeom>
          <a:noFill/>
        </p:spPr>
        <p:txBody>
          <a:bodyPr wrap="square">
            <a:spAutoFit/>
          </a:bodyPr>
          <a:lstStyle/>
          <a:p>
            <a:pPr>
              <a:lnSpc>
                <a:spcPct val="107000"/>
              </a:lnSpc>
              <a:spcAft>
                <a:spcPts val="800"/>
              </a:spcAft>
            </a:pPr>
            <a:r>
              <a:rPr lang="en-IN" sz="1800" b="1" kern="100" dirty="0">
                <a:effectLst/>
                <a:latin typeface="Aptos" panose="020B0004020202020204" pitchFamily="34" charset="0"/>
                <a:ea typeface="Aptos" panose="020B0004020202020204" pitchFamily="34" charset="0"/>
                <a:cs typeface="Mangal" panose="02040503050203030202" pitchFamily="18" charset="0"/>
              </a:rPr>
              <a:t>Analysis:</a:t>
            </a:r>
            <a:endParaRPr lang="en-IN" sz="1800" kern="100" dirty="0">
              <a:effectLst/>
              <a:latin typeface="Aptos" panose="020B0004020202020204" pitchFamily="34" charset="0"/>
              <a:ea typeface="Aptos" panose="020B0004020202020204" pitchFamily="34" charset="0"/>
              <a:cs typeface="Mangal" panose="02040503050203030202" pitchFamily="18" charset="0"/>
            </a:endParaRPr>
          </a:p>
          <a:p>
            <a:pPr>
              <a:lnSpc>
                <a:spcPct val="107000"/>
              </a:lnSpc>
              <a:spcAft>
                <a:spcPts val="800"/>
              </a:spcAft>
            </a:pPr>
            <a:r>
              <a:rPr lang="en-IN" sz="1800" b="1" kern="100" dirty="0">
                <a:effectLst/>
                <a:latin typeface="Segoe UI Emoji" panose="020B0502040204020203" pitchFamily="34" charset="0"/>
                <a:ea typeface="Aptos" panose="020B0004020202020204" pitchFamily="34" charset="0"/>
                <a:cs typeface="Segoe UI Emoji" panose="020B0502040204020203" pitchFamily="34" charset="0"/>
              </a:rPr>
              <a:t>✅</a:t>
            </a:r>
            <a:r>
              <a:rPr lang="en-IN" sz="1800" b="1" kern="100" dirty="0">
                <a:effectLst/>
                <a:latin typeface="Aptos" panose="020B0004020202020204" pitchFamily="34" charset="0"/>
                <a:ea typeface="Aptos" panose="020B0004020202020204" pitchFamily="34" charset="0"/>
                <a:cs typeface="Mangal" panose="02040503050203030202" pitchFamily="18" charset="0"/>
              </a:rPr>
              <a:t> Cohesion: High</a:t>
            </a:r>
            <a:endParaRPr lang="en-IN" sz="1800" kern="100" dirty="0">
              <a:effectLst/>
              <a:latin typeface="Aptos" panose="020B0004020202020204" pitchFamily="34" charset="0"/>
              <a:ea typeface="Aptos" panose="020B0004020202020204" pitchFamily="34" charset="0"/>
              <a:cs typeface="Mangal" panose="02040503050203030202"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Aptos" panose="020B0004020202020204" pitchFamily="34" charset="0"/>
                <a:ea typeface="Aptos" panose="020B0004020202020204" pitchFamily="34" charset="0"/>
                <a:cs typeface="Mangal" panose="02040503050203030202" pitchFamily="18" charset="0"/>
              </a:rPr>
              <a:t>Calculator focuses only on mathematical operations (</a:t>
            </a:r>
            <a:r>
              <a:rPr lang="en-IN" sz="1800" b="1" kern="100" dirty="0">
                <a:effectLst/>
                <a:latin typeface="Aptos" panose="020B0004020202020204" pitchFamily="34" charset="0"/>
                <a:ea typeface="Aptos" panose="020B0004020202020204" pitchFamily="34" charset="0"/>
                <a:cs typeface="Mangal" panose="02040503050203030202" pitchFamily="18" charset="0"/>
              </a:rPr>
              <a:t>Functional Cohesion</a:t>
            </a:r>
            <a:r>
              <a:rPr lang="en-IN" sz="1800" kern="100" dirty="0">
                <a:effectLst/>
                <a:latin typeface="Aptos" panose="020B0004020202020204" pitchFamily="34" charset="0"/>
                <a:ea typeface="Aptos" panose="020B0004020202020204" pitchFamily="34" charset="0"/>
                <a:cs typeface="Mangal" panose="02040503050203030202" pitchFamily="18" charset="0"/>
              </a:rPr>
              <a:t>).</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Aptos" panose="020B0004020202020204" pitchFamily="34" charset="0"/>
                <a:ea typeface="Aptos" panose="020B0004020202020204" pitchFamily="34" charset="0"/>
                <a:cs typeface="Mangal" panose="02040503050203030202" pitchFamily="18" charset="0"/>
              </a:rPr>
              <a:t>Display is responsible only for showing results.</a:t>
            </a:r>
          </a:p>
          <a:p>
            <a:pPr>
              <a:lnSpc>
                <a:spcPct val="107000"/>
              </a:lnSpc>
              <a:spcAft>
                <a:spcPts val="800"/>
              </a:spcAft>
            </a:pPr>
            <a:r>
              <a:rPr lang="en-IN" sz="1800" b="1" kern="100" dirty="0">
                <a:effectLst/>
                <a:latin typeface="Segoe UI Emoji" panose="020B0502040204020203" pitchFamily="34" charset="0"/>
                <a:ea typeface="Aptos" panose="020B0004020202020204" pitchFamily="34" charset="0"/>
                <a:cs typeface="Segoe UI Emoji" panose="020B0502040204020203" pitchFamily="34" charset="0"/>
              </a:rPr>
              <a:t>✅</a:t>
            </a:r>
            <a:r>
              <a:rPr lang="en-IN" sz="1800" b="1" kern="100" dirty="0">
                <a:effectLst/>
                <a:latin typeface="Aptos" panose="020B0004020202020204" pitchFamily="34" charset="0"/>
                <a:ea typeface="Aptos" panose="020B0004020202020204" pitchFamily="34" charset="0"/>
                <a:cs typeface="Mangal" panose="02040503050203030202" pitchFamily="18" charset="0"/>
              </a:rPr>
              <a:t> Coupling: Low</a:t>
            </a:r>
            <a:endParaRPr lang="en-IN" sz="1800" kern="100" dirty="0">
              <a:effectLst/>
              <a:latin typeface="Aptos" panose="020B0004020202020204" pitchFamily="34" charset="0"/>
              <a:ea typeface="Aptos" panose="020B0004020202020204" pitchFamily="34" charset="0"/>
              <a:cs typeface="Mangal" panose="02040503050203030202"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Aptos" panose="020B0004020202020204" pitchFamily="34" charset="0"/>
                <a:ea typeface="Aptos" panose="020B0004020202020204" pitchFamily="34" charset="0"/>
                <a:cs typeface="Mangal" panose="02040503050203030202" pitchFamily="18" charset="0"/>
              </a:rPr>
              <a:t>Calculator and Display are independent; they only share data.</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Aptos" panose="020B0004020202020204" pitchFamily="34" charset="0"/>
                <a:ea typeface="Aptos" panose="020B0004020202020204" pitchFamily="34" charset="0"/>
                <a:cs typeface="Mangal" panose="02040503050203030202" pitchFamily="18" charset="0"/>
              </a:rPr>
              <a:t>No </a:t>
            </a:r>
            <a:r>
              <a:rPr lang="en-IN" sz="1800" b="1" kern="100" dirty="0">
                <a:effectLst/>
                <a:latin typeface="Aptos" panose="020B0004020202020204" pitchFamily="34" charset="0"/>
                <a:ea typeface="Aptos" panose="020B0004020202020204" pitchFamily="34" charset="0"/>
                <a:cs typeface="Mangal" panose="02040503050203030202" pitchFamily="18" charset="0"/>
              </a:rPr>
              <a:t>direct dependency</a:t>
            </a:r>
            <a:r>
              <a:rPr lang="en-IN" sz="1800" kern="100" dirty="0">
                <a:effectLst/>
                <a:latin typeface="Aptos" panose="020B0004020202020204" pitchFamily="34" charset="0"/>
                <a:ea typeface="Aptos" panose="020B0004020202020204" pitchFamily="34" charset="0"/>
                <a:cs typeface="Mangal" panose="02040503050203030202" pitchFamily="18" charset="0"/>
              </a:rPr>
              <a:t> between logic and output.</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Aptos" panose="020B0004020202020204" pitchFamily="34" charset="0"/>
                <a:ea typeface="Aptos" panose="020B0004020202020204" pitchFamily="34" charset="0"/>
                <a:cs typeface="Mangal" panose="02040503050203030202" pitchFamily="18" charset="0"/>
              </a:rPr>
              <a:t>If needed, Display can be replaced without affecting Calculator.</a:t>
            </a:r>
          </a:p>
        </p:txBody>
      </p:sp>
    </p:spTree>
    <p:extLst>
      <p:ext uri="{BB962C8B-B14F-4D97-AF65-F5344CB8AC3E}">
        <p14:creationId xmlns:p14="http://schemas.microsoft.com/office/powerpoint/2010/main" val="23942158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CA4BAD-1EEF-9667-D39A-8F54360E2F52}"/>
              </a:ext>
            </a:extLst>
          </p:cNvPr>
          <p:cNvSpPr txBox="1"/>
          <p:nvPr/>
        </p:nvSpPr>
        <p:spPr>
          <a:xfrm>
            <a:off x="4042741" y="0"/>
            <a:ext cx="6097656" cy="369332"/>
          </a:xfrm>
          <a:prstGeom prst="rect">
            <a:avLst/>
          </a:prstGeom>
          <a:noFill/>
        </p:spPr>
        <p:txBody>
          <a:bodyPr wrap="square">
            <a:spAutoFit/>
          </a:bodyPr>
          <a:lstStyle/>
          <a:p>
            <a:r>
              <a:rPr lang="en-IN" b="1" dirty="0"/>
              <a:t>Java Code Demonstrating Different Cohesion Types</a:t>
            </a:r>
          </a:p>
        </p:txBody>
      </p:sp>
      <p:sp>
        <p:nvSpPr>
          <p:cNvPr id="5" name="TextBox 4">
            <a:extLst>
              <a:ext uri="{FF2B5EF4-FFF2-40B4-BE49-F238E27FC236}">
                <a16:creationId xmlns:a16="http://schemas.microsoft.com/office/drawing/2014/main" id="{BECC5B24-3C50-34A0-FC24-903E6CAFB0AD}"/>
              </a:ext>
            </a:extLst>
          </p:cNvPr>
          <p:cNvSpPr txBox="1"/>
          <p:nvPr/>
        </p:nvSpPr>
        <p:spPr>
          <a:xfrm>
            <a:off x="0" y="293997"/>
            <a:ext cx="11598136" cy="6863417"/>
          </a:xfrm>
          <a:prstGeom prst="rect">
            <a:avLst/>
          </a:prstGeom>
          <a:noFill/>
        </p:spPr>
        <p:txBody>
          <a:bodyPr wrap="square">
            <a:spAutoFit/>
          </a:bodyPr>
          <a:lstStyle/>
          <a:p>
            <a:r>
              <a:rPr lang="en-IN" b="1" dirty="0"/>
              <a:t>// Coincidental Cohesion Example (Unrelated Methods in One Class)</a:t>
            </a:r>
          </a:p>
          <a:p>
            <a:r>
              <a:rPr lang="en-IN" dirty="0"/>
              <a:t>class </a:t>
            </a:r>
            <a:r>
              <a:rPr lang="en-IN" dirty="0" err="1"/>
              <a:t>CoincidentalCohesion</a:t>
            </a:r>
            <a:r>
              <a:rPr lang="en-IN" dirty="0"/>
              <a:t> {</a:t>
            </a:r>
          </a:p>
          <a:p>
            <a:r>
              <a:rPr lang="en-IN" dirty="0"/>
              <a:t>    public void </a:t>
            </a:r>
            <a:r>
              <a:rPr lang="en-IN" dirty="0" err="1"/>
              <a:t>printMessage</a:t>
            </a:r>
            <a:r>
              <a:rPr lang="en-IN" dirty="0"/>
              <a:t>() {</a:t>
            </a:r>
          </a:p>
          <a:p>
            <a:r>
              <a:rPr lang="en-IN" dirty="0"/>
              <a:t>        </a:t>
            </a:r>
            <a:r>
              <a:rPr lang="en-IN" dirty="0" err="1"/>
              <a:t>System.out.println</a:t>
            </a:r>
            <a:r>
              <a:rPr lang="en-IN" dirty="0"/>
              <a:t>("Hello, World!");</a:t>
            </a:r>
          </a:p>
          <a:p>
            <a:r>
              <a:rPr lang="en-IN" dirty="0"/>
              <a:t>    }</a:t>
            </a:r>
          </a:p>
          <a:p>
            <a:r>
              <a:rPr lang="en-IN" dirty="0"/>
              <a:t>    public int </a:t>
            </a:r>
            <a:r>
              <a:rPr lang="en-IN" dirty="0" err="1"/>
              <a:t>addNumbers</a:t>
            </a:r>
            <a:r>
              <a:rPr lang="en-IN" dirty="0"/>
              <a:t>(int a, int b) {</a:t>
            </a:r>
          </a:p>
          <a:p>
            <a:r>
              <a:rPr lang="en-IN" dirty="0"/>
              <a:t>        return a + b;</a:t>
            </a:r>
          </a:p>
          <a:p>
            <a:r>
              <a:rPr lang="en-IN" dirty="0"/>
              <a:t>    }</a:t>
            </a:r>
          </a:p>
          <a:p>
            <a:r>
              <a:rPr lang="en-IN" dirty="0"/>
              <a:t>    public void </a:t>
            </a:r>
            <a:r>
              <a:rPr lang="en-IN" dirty="0" err="1"/>
              <a:t>displayTime</a:t>
            </a:r>
            <a:r>
              <a:rPr lang="en-IN" dirty="0"/>
              <a:t>() {</a:t>
            </a:r>
          </a:p>
          <a:p>
            <a:r>
              <a:rPr lang="en-IN" dirty="0"/>
              <a:t>        </a:t>
            </a:r>
            <a:r>
              <a:rPr lang="en-IN" dirty="0" err="1"/>
              <a:t>System.out.println</a:t>
            </a:r>
            <a:r>
              <a:rPr lang="en-IN" dirty="0"/>
              <a:t>("Current Time: " + </a:t>
            </a:r>
            <a:r>
              <a:rPr lang="en-IN" dirty="0" err="1"/>
              <a:t>System.currentTimeMillis</a:t>
            </a:r>
            <a:r>
              <a:rPr lang="en-IN" dirty="0"/>
              <a:t>());</a:t>
            </a:r>
          </a:p>
          <a:p>
            <a:r>
              <a:rPr lang="en-IN" dirty="0"/>
              <a:t>    }  }</a:t>
            </a:r>
          </a:p>
          <a:p>
            <a:r>
              <a:rPr lang="en-IN" b="1" dirty="0"/>
              <a:t>// Logical Cohesion Example (Related by Category, but Methods Do Different Tasks)</a:t>
            </a:r>
          </a:p>
          <a:p>
            <a:r>
              <a:rPr lang="en-IN" sz="1400" dirty="0"/>
              <a:t>class </a:t>
            </a:r>
            <a:r>
              <a:rPr lang="en-IN" sz="1400" dirty="0" err="1"/>
              <a:t>LogicalCohesion</a:t>
            </a:r>
            <a:r>
              <a:rPr lang="en-IN" sz="1400" dirty="0"/>
              <a:t> {</a:t>
            </a:r>
          </a:p>
          <a:p>
            <a:r>
              <a:rPr lang="en-IN" sz="1400" dirty="0"/>
              <a:t>    public void </a:t>
            </a:r>
            <a:r>
              <a:rPr lang="en-IN" sz="1400" dirty="0" err="1"/>
              <a:t>performOperation</a:t>
            </a:r>
            <a:r>
              <a:rPr lang="en-IN" sz="1400" dirty="0"/>
              <a:t>(int choice, int a, int b) {</a:t>
            </a:r>
          </a:p>
          <a:p>
            <a:r>
              <a:rPr lang="en-IN" sz="1400" dirty="0"/>
              <a:t>        switch (choice) {</a:t>
            </a:r>
          </a:p>
          <a:p>
            <a:r>
              <a:rPr lang="en-IN" sz="1400" dirty="0"/>
              <a:t>            case 1:</a:t>
            </a:r>
          </a:p>
          <a:p>
            <a:r>
              <a:rPr lang="en-IN" sz="1400" dirty="0"/>
              <a:t>                </a:t>
            </a:r>
            <a:r>
              <a:rPr lang="en-IN" sz="1400" dirty="0" err="1"/>
              <a:t>System.out.println</a:t>
            </a:r>
            <a:r>
              <a:rPr lang="en-IN" sz="1400" dirty="0"/>
              <a:t>("Sum: " + (a + b)); </a:t>
            </a:r>
            <a:r>
              <a:rPr lang="en-IN" sz="1400" b="1" dirty="0"/>
              <a:t>// Addition</a:t>
            </a:r>
          </a:p>
          <a:p>
            <a:r>
              <a:rPr lang="en-IN" sz="1400" dirty="0"/>
              <a:t>                break;</a:t>
            </a:r>
          </a:p>
          <a:p>
            <a:r>
              <a:rPr lang="en-IN" sz="1400" dirty="0"/>
              <a:t>            case 2:</a:t>
            </a:r>
          </a:p>
          <a:p>
            <a:r>
              <a:rPr lang="en-IN" sz="1400" dirty="0"/>
              <a:t>                </a:t>
            </a:r>
            <a:r>
              <a:rPr lang="en-IN" sz="1400" dirty="0" err="1"/>
              <a:t>System.out.println</a:t>
            </a:r>
            <a:r>
              <a:rPr lang="en-IN" sz="1400" dirty="0"/>
              <a:t>("Difference: " + (a - b)); </a:t>
            </a:r>
            <a:r>
              <a:rPr lang="en-IN" sz="1400" b="1" dirty="0"/>
              <a:t>// Subtraction</a:t>
            </a:r>
          </a:p>
          <a:p>
            <a:r>
              <a:rPr lang="en-IN" sz="1400" dirty="0"/>
              <a:t>                break;</a:t>
            </a:r>
          </a:p>
          <a:p>
            <a:r>
              <a:rPr lang="en-IN" sz="1400" dirty="0"/>
              <a:t>            case 3:</a:t>
            </a:r>
          </a:p>
          <a:p>
            <a:r>
              <a:rPr lang="en-IN" sz="1400" dirty="0"/>
              <a:t>                </a:t>
            </a:r>
            <a:r>
              <a:rPr lang="en-IN" sz="1400" dirty="0" err="1"/>
              <a:t>System.out.println</a:t>
            </a:r>
            <a:r>
              <a:rPr lang="en-IN" sz="1400" dirty="0"/>
              <a:t>("Product: " + (a * b)); </a:t>
            </a:r>
            <a:r>
              <a:rPr lang="en-IN" sz="1400" b="1" dirty="0"/>
              <a:t>// Multiplication</a:t>
            </a:r>
          </a:p>
          <a:p>
            <a:r>
              <a:rPr lang="en-IN" sz="1400" dirty="0"/>
              <a:t>                break;</a:t>
            </a:r>
          </a:p>
          <a:p>
            <a:r>
              <a:rPr lang="en-IN" sz="1400" dirty="0"/>
              <a:t>            default:</a:t>
            </a:r>
          </a:p>
          <a:p>
            <a:r>
              <a:rPr lang="en-IN" sz="1400" dirty="0"/>
              <a:t>                </a:t>
            </a:r>
            <a:r>
              <a:rPr lang="en-IN" sz="1400" dirty="0" err="1"/>
              <a:t>System.out.println</a:t>
            </a:r>
            <a:r>
              <a:rPr lang="en-IN" sz="1400" dirty="0"/>
              <a:t>("Invalid Choice");</a:t>
            </a:r>
          </a:p>
          <a:p>
            <a:r>
              <a:rPr lang="en-IN" sz="1400" dirty="0"/>
              <a:t>        } } }</a:t>
            </a:r>
          </a:p>
        </p:txBody>
      </p:sp>
    </p:spTree>
    <p:extLst>
      <p:ext uri="{BB962C8B-B14F-4D97-AF65-F5344CB8AC3E}">
        <p14:creationId xmlns:p14="http://schemas.microsoft.com/office/powerpoint/2010/main" val="34433823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4AE2F5-A050-572B-C282-163A09A22148}"/>
              </a:ext>
            </a:extLst>
          </p:cNvPr>
          <p:cNvSpPr txBox="1"/>
          <p:nvPr/>
        </p:nvSpPr>
        <p:spPr>
          <a:xfrm>
            <a:off x="159025" y="124965"/>
            <a:ext cx="11688418" cy="6740307"/>
          </a:xfrm>
          <a:prstGeom prst="rect">
            <a:avLst/>
          </a:prstGeom>
          <a:noFill/>
        </p:spPr>
        <p:txBody>
          <a:bodyPr wrap="square">
            <a:spAutoFit/>
          </a:bodyPr>
          <a:lstStyle/>
          <a:p>
            <a:r>
              <a:rPr lang="en-IN" b="1" dirty="0"/>
              <a:t>// Sequential Cohesion Example (Output of One Method is Input for Another)</a:t>
            </a:r>
          </a:p>
          <a:p>
            <a:r>
              <a:rPr lang="en-IN" dirty="0"/>
              <a:t>class </a:t>
            </a:r>
            <a:r>
              <a:rPr lang="en-IN" dirty="0" err="1"/>
              <a:t>SequentialCohesion</a:t>
            </a:r>
            <a:r>
              <a:rPr lang="en-IN" dirty="0"/>
              <a:t> {</a:t>
            </a:r>
          </a:p>
          <a:p>
            <a:r>
              <a:rPr lang="en-IN" dirty="0"/>
              <a:t>    public int </a:t>
            </a:r>
            <a:r>
              <a:rPr lang="en-IN" dirty="0" err="1"/>
              <a:t>getSquare</a:t>
            </a:r>
            <a:r>
              <a:rPr lang="en-IN" dirty="0"/>
              <a:t>(int </a:t>
            </a:r>
            <a:r>
              <a:rPr lang="en-IN" dirty="0" err="1"/>
              <a:t>num</a:t>
            </a:r>
            <a:r>
              <a:rPr lang="en-IN" dirty="0"/>
              <a:t>) {</a:t>
            </a:r>
          </a:p>
          <a:p>
            <a:r>
              <a:rPr lang="en-IN" dirty="0"/>
              <a:t>        return </a:t>
            </a:r>
            <a:r>
              <a:rPr lang="en-IN" dirty="0" err="1"/>
              <a:t>num</a:t>
            </a:r>
            <a:r>
              <a:rPr lang="en-IN" dirty="0"/>
              <a:t> * </a:t>
            </a:r>
            <a:r>
              <a:rPr lang="en-IN" dirty="0" err="1"/>
              <a:t>num</a:t>
            </a:r>
            <a:r>
              <a:rPr lang="en-IN" dirty="0"/>
              <a:t>;</a:t>
            </a:r>
          </a:p>
          <a:p>
            <a:r>
              <a:rPr lang="en-IN" dirty="0"/>
              <a:t>    }</a:t>
            </a:r>
          </a:p>
          <a:p>
            <a:r>
              <a:rPr lang="en-IN" dirty="0"/>
              <a:t>    public void </a:t>
            </a:r>
            <a:r>
              <a:rPr lang="en-IN" dirty="0" err="1"/>
              <a:t>printSquare</a:t>
            </a:r>
            <a:r>
              <a:rPr lang="en-IN" dirty="0"/>
              <a:t>(int </a:t>
            </a:r>
            <a:r>
              <a:rPr lang="en-IN" dirty="0" err="1"/>
              <a:t>num</a:t>
            </a:r>
            <a:r>
              <a:rPr lang="en-IN" dirty="0"/>
              <a:t>) {</a:t>
            </a:r>
          </a:p>
          <a:p>
            <a:r>
              <a:rPr lang="en-IN" dirty="0"/>
              <a:t>        int square = </a:t>
            </a:r>
            <a:r>
              <a:rPr lang="en-IN" dirty="0" err="1"/>
              <a:t>getSquare</a:t>
            </a:r>
            <a:r>
              <a:rPr lang="en-IN" dirty="0"/>
              <a:t>(</a:t>
            </a:r>
            <a:r>
              <a:rPr lang="en-IN" dirty="0" err="1"/>
              <a:t>num</a:t>
            </a:r>
            <a:r>
              <a:rPr lang="en-IN" dirty="0"/>
              <a:t>); // Using output of first method</a:t>
            </a:r>
          </a:p>
          <a:p>
            <a:r>
              <a:rPr lang="en-IN" dirty="0"/>
              <a:t>        </a:t>
            </a:r>
            <a:r>
              <a:rPr lang="en-IN" dirty="0" err="1"/>
              <a:t>System.out.println</a:t>
            </a:r>
            <a:r>
              <a:rPr lang="en-IN" dirty="0"/>
              <a:t>("Square of " + </a:t>
            </a:r>
            <a:r>
              <a:rPr lang="en-IN" dirty="0" err="1"/>
              <a:t>num</a:t>
            </a:r>
            <a:r>
              <a:rPr lang="en-IN" dirty="0"/>
              <a:t> + " is: " + square);</a:t>
            </a:r>
          </a:p>
          <a:p>
            <a:r>
              <a:rPr lang="en-IN" dirty="0"/>
              <a:t>    }  }</a:t>
            </a:r>
          </a:p>
          <a:p>
            <a:r>
              <a:rPr lang="en-IN" b="1" dirty="0"/>
              <a:t>// Main Class to Test Cohesion Types</a:t>
            </a:r>
          </a:p>
          <a:p>
            <a:r>
              <a:rPr lang="en-IN" dirty="0"/>
              <a:t>public class </a:t>
            </a:r>
            <a:r>
              <a:rPr lang="en-IN" dirty="0" err="1"/>
              <a:t>CohesionTypesExample</a:t>
            </a:r>
            <a:r>
              <a:rPr lang="en-IN" dirty="0"/>
              <a:t> {</a:t>
            </a:r>
          </a:p>
          <a:p>
            <a:r>
              <a:rPr lang="en-IN" dirty="0"/>
              <a:t>    public static void main(String[] </a:t>
            </a:r>
            <a:r>
              <a:rPr lang="en-IN" dirty="0" err="1"/>
              <a:t>args</a:t>
            </a:r>
            <a:r>
              <a:rPr lang="en-IN" dirty="0"/>
              <a:t>) {</a:t>
            </a:r>
          </a:p>
          <a:p>
            <a:r>
              <a:rPr lang="en-IN" b="1" dirty="0"/>
              <a:t>        // Coincidental Cohesion Example</a:t>
            </a:r>
          </a:p>
          <a:p>
            <a:r>
              <a:rPr lang="en-IN" dirty="0"/>
              <a:t>        </a:t>
            </a:r>
            <a:r>
              <a:rPr lang="en-IN" dirty="0" err="1"/>
              <a:t>CoincidentalCohesion</a:t>
            </a:r>
            <a:r>
              <a:rPr lang="en-IN" dirty="0"/>
              <a:t> cc = new </a:t>
            </a:r>
            <a:r>
              <a:rPr lang="en-IN" dirty="0" err="1"/>
              <a:t>CoincidentalCohesion</a:t>
            </a:r>
            <a:r>
              <a:rPr lang="en-IN" dirty="0"/>
              <a:t>();</a:t>
            </a:r>
          </a:p>
          <a:p>
            <a:r>
              <a:rPr lang="en-IN" dirty="0"/>
              <a:t>        </a:t>
            </a:r>
            <a:r>
              <a:rPr lang="en-IN" dirty="0" err="1"/>
              <a:t>cc.printMessage</a:t>
            </a:r>
            <a:r>
              <a:rPr lang="en-IN" dirty="0"/>
              <a:t>();</a:t>
            </a:r>
          </a:p>
          <a:p>
            <a:r>
              <a:rPr lang="en-IN" dirty="0"/>
              <a:t>        </a:t>
            </a:r>
            <a:r>
              <a:rPr lang="en-IN" dirty="0" err="1"/>
              <a:t>System.out.println</a:t>
            </a:r>
            <a:r>
              <a:rPr lang="en-IN" dirty="0"/>
              <a:t>("Sum: " + </a:t>
            </a:r>
            <a:r>
              <a:rPr lang="en-IN" dirty="0" err="1"/>
              <a:t>cc.addNumbers</a:t>
            </a:r>
            <a:r>
              <a:rPr lang="en-IN" dirty="0"/>
              <a:t>(3, 5));</a:t>
            </a:r>
          </a:p>
          <a:p>
            <a:r>
              <a:rPr lang="en-IN" dirty="0"/>
              <a:t>        </a:t>
            </a:r>
            <a:r>
              <a:rPr lang="en-IN" dirty="0" err="1"/>
              <a:t>cc.displayTime</a:t>
            </a:r>
            <a:r>
              <a:rPr lang="en-IN" dirty="0"/>
              <a:t>(); // Methods are unrelated</a:t>
            </a:r>
          </a:p>
          <a:p>
            <a:r>
              <a:rPr lang="en-IN" dirty="0"/>
              <a:t>        </a:t>
            </a:r>
            <a:r>
              <a:rPr lang="en-IN" b="1" dirty="0"/>
              <a:t>// Logical Cohesion Example</a:t>
            </a:r>
          </a:p>
          <a:p>
            <a:r>
              <a:rPr lang="en-IN" dirty="0"/>
              <a:t>        </a:t>
            </a:r>
            <a:r>
              <a:rPr lang="en-IN" dirty="0" err="1"/>
              <a:t>LogicalCohesion</a:t>
            </a:r>
            <a:r>
              <a:rPr lang="en-IN" dirty="0"/>
              <a:t> lc = new </a:t>
            </a:r>
            <a:r>
              <a:rPr lang="en-IN" dirty="0" err="1"/>
              <a:t>LogicalCohesion</a:t>
            </a:r>
            <a:r>
              <a:rPr lang="en-IN" dirty="0"/>
              <a:t>();</a:t>
            </a:r>
          </a:p>
          <a:p>
            <a:r>
              <a:rPr lang="en-IN" dirty="0"/>
              <a:t>        </a:t>
            </a:r>
            <a:r>
              <a:rPr lang="en-IN" dirty="0" err="1"/>
              <a:t>lc.performOperation</a:t>
            </a:r>
            <a:r>
              <a:rPr lang="en-IN" dirty="0"/>
              <a:t>(1, 4, 2); </a:t>
            </a:r>
            <a:r>
              <a:rPr lang="en-IN" b="1" dirty="0"/>
              <a:t>// Related operations, but method lacks focus</a:t>
            </a:r>
          </a:p>
          <a:p>
            <a:r>
              <a:rPr lang="en-IN" b="1" dirty="0"/>
              <a:t>        // Sequential Cohesion Example</a:t>
            </a:r>
          </a:p>
          <a:p>
            <a:r>
              <a:rPr lang="en-IN" dirty="0"/>
              <a:t>        </a:t>
            </a:r>
            <a:r>
              <a:rPr lang="en-IN" dirty="0" err="1"/>
              <a:t>SequentialCohesion</a:t>
            </a:r>
            <a:r>
              <a:rPr lang="en-IN" dirty="0"/>
              <a:t> </a:t>
            </a:r>
            <a:r>
              <a:rPr lang="en-IN" dirty="0" err="1"/>
              <a:t>sc</a:t>
            </a:r>
            <a:r>
              <a:rPr lang="en-IN" dirty="0"/>
              <a:t> = new </a:t>
            </a:r>
            <a:r>
              <a:rPr lang="en-IN" dirty="0" err="1"/>
              <a:t>SequentialCohesion</a:t>
            </a:r>
            <a:r>
              <a:rPr lang="en-IN" dirty="0"/>
              <a:t>();</a:t>
            </a:r>
          </a:p>
          <a:p>
            <a:r>
              <a:rPr lang="en-IN" dirty="0"/>
              <a:t>        </a:t>
            </a:r>
            <a:r>
              <a:rPr lang="en-IN" dirty="0" err="1"/>
              <a:t>sc.printSquare</a:t>
            </a:r>
            <a:r>
              <a:rPr lang="en-IN" dirty="0"/>
              <a:t>(6); // Output of one method is used in another</a:t>
            </a:r>
          </a:p>
          <a:p>
            <a:r>
              <a:rPr lang="en-IN" dirty="0"/>
              <a:t>    }  }</a:t>
            </a:r>
          </a:p>
        </p:txBody>
      </p:sp>
    </p:spTree>
    <p:extLst>
      <p:ext uri="{BB962C8B-B14F-4D97-AF65-F5344CB8AC3E}">
        <p14:creationId xmlns:p14="http://schemas.microsoft.com/office/powerpoint/2010/main" val="11484518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F4F8B06-E3A7-0FEE-7949-AF4D50B07EC8}"/>
              </a:ext>
            </a:extLst>
          </p:cNvPr>
          <p:cNvSpPr txBox="1"/>
          <p:nvPr/>
        </p:nvSpPr>
        <p:spPr>
          <a:xfrm>
            <a:off x="246821" y="0"/>
            <a:ext cx="11698357" cy="5078313"/>
          </a:xfrm>
          <a:prstGeom prst="rect">
            <a:avLst/>
          </a:prstGeom>
          <a:noFill/>
        </p:spPr>
        <p:txBody>
          <a:bodyPr wrap="square">
            <a:spAutoFit/>
          </a:bodyPr>
          <a:lstStyle/>
          <a:p>
            <a:r>
              <a:rPr lang="en-IN" dirty="0"/>
              <a:t>Analysis of Cohesion Types:</a:t>
            </a:r>
          </a:p>
          <a:p>
            <a:r>
              <a:rPr lang="en-IN" dirty="0"/>
              <a:t>❌ Coincidental Cohesion (Worst - Should be Avoided)</a:t>
            </a:r>
          </a:p>
          <a:p>
            <a:endParaRPr lang="en-IN" dirty="0"/>
          </a:p>
          <a:p>
            <a:r>
              <a:rPr lang="en-IN" dirty="0"/>
              <a:t>    Observed in </a:t>
            </a:r>
            <a:r>
              <a:rPr lang="en-IN" dirty="0" err="1"/>
              <a:t>CoincidentalCohesion</a:t>
            </a:r>
            <a:r>
              <a:rPr lang="en-IN" dirty="0"/>
              <a:t> class</a:t>
            </a:r>
          </a:p>
          <a:p>
            <a:r>
              <a:rPr lang="en-IN" dirty="0"/>
              <a:t>    Methods </a:t>
            </a:r>
            <a:r>
              <a:rPr lang="en-IN" dirty="0" err="1"/>
              <a:t>printMessage</a:t>
            </a:r>
            <a:r>
              <a:rPr lang="en-IN" dirty="0"/>
              <a:t>(), </a:t>
            </a:r>
            <a:r>
              <a:rPr lang="en-IN" dirty="0" err="1"/>
              <a:t>addNumbers</a:t>
            </a:r>
            <a:r>
              <a:rPr lang="en-IN" dirty="0"/>
              <a:t>(), and </a:t>
            </a:r>
            <a:r>
              <a:rPr lang="en-IN" dirty="0" err="1"/>
              <a:t>displayTime</a:t>
            </a:r>
            <a:r>
              <a:rPr lang="en-IN" dirty="0"/>
              <a:t>() are completely unrelated but grouped in the same class.</a:t>
            </a:r>
          </a:p>
          <a:p>
            <a:r>
              <a:rPr lang="en-IN" dirty="0"/>
              <a:t>    Results in poor maintainability and lack of purpose.</a:t>
            </a:r>
          </a:p>
          <a:p>
            <a:endParaRPr lang="en-IN" dirty="0"/>
          </a:p>
          <a:p>
            <a:r>
              <a:rPr lang="en-IN" dirty="0"/>
              <a:t>⚠ Logical Cohesion (Moderate - Acceptable but Not Ideal)</a:t>
            </a:r>
          </a:p>
          <a:p>
            <a:endParaRPr lang="en-IN" dirty="0"/>
          </a:p>
          <a:p>
            <a:r>
              <a:rPr lang="en-IN" dirty="0"/>
              <a:t>    Observed in </a:t>
            </a:r>
            <a:r>
              <a:rPr lang="en-IN" dirty="0" err="1"/>
              <a:t>LogicalCohesion</a:t>
            </a:r>
            <a:r>
              <a:rPr lang="en-IN" dirty="0"/>
              <a:t> class</a:t>
            </a:r>
          </a:p>
          <a:p>
            <a:r>
              <a:rPr lang="en-IN" dirty="0"/>
              <a:t>    The method </a:t>
            </a:r>
            <a:r>
              <a:rPr lang="en-IN" dirty="0" err="1"/>
              <a:t>performOperation</a:t>
            </a:r>
            <a:r>
              <a:rPr lang="en-IN" dirty="0"/>
              <a:t>() groups related tasks (addition, subtraction, multiplication) but lacks clear separation.</a:t>
            </a:r>
          </a:p>
          <a:p>
            <a:r>
              <a:rPr lang="en-IN" dirty="0"/>
              <a:t>    A better approach would be to create separate methods for each operation.</a:t>
            </a:r>
          </a:p>
          <a:p>
            <a:endParaRPr lang="en-IN" dirty="0"/>
          </a:p>
          <a:p>
            <a:r>
              <a:rPr lang="en-IN" dirty="0"/>
              <a:t>✅ Sequential Cohesion (Best - Recommended)</a:t>
            </a:r>
          </a:p>
          <a:p>
            <a:r>
              <a:rPr lang="en-IN" dirty="0"/>
              <a:t>    Observed in </a:t>
            </a:r>
            <a:r>
              <a:rPr lang="en-IN" dirty="0" err="1"/>
              <a:t>SequentialCohesion</a:t>
            </a:r>
            <a:r>
              <a:rPr lang="en-IN" dirty="0"/>
              <a:t> class</a:t>
            </a:r>
          </a:p>
          <a:p>
            <a:r>
              <a:rPr lang="en-IN" dirty="0"/>
              <a:t>    The method </a:t>
            </a:r>
            <a:r>
              <a:rPr lang="en-IN" dirty="0" err="1"/>
              <a:t>getSquare</a:t>
            </a:r>
            <a:r>
              <a:rPr lang="en-IN" dirty="0"/>
              <a:t>() computes the square, and </a:t>
            </a:r>
            <a:r>
              <a:rPr lang="en-IN" dirty="0" err="1"/>
              <a:t>printSquare</a:t>
            </a:r>
            <a:r>
              <a:rPr lang="en-IN" dirty="0"/>
              <a:t>() uses its output.</a:t>
            </a:r>
          </a:p>
          <a:p>
            <a:r>
              <a:rPr lang="en-IN" dirty="0"/>
              <a:t>    This ensures a logical flow where one function's output serves as another's input.</a:t>
            </a:r>
          </a:p>
          <a:p>
            <a:r>
              <a:rPr lang="en-IN" dirty="0"/>
              <a:t>    Leads to better modularity, maintainability, and reusability.</a:t>
            </a:r>
          </a:p>
        </p:txBody>
      </p:sp>
      <p:sp>
        <p:nvSpPr>
          <p:cNvPr id="6" name="TextBox 5">
            <a:extLst>
              <a:ext uri="{FF2B5EF4-FFF2-40B4-BE49-F238E27FC236}">
                <a16:creationId xmlns:a16="http://schemas.microsoft.com/office/drawing/2014/main" id="{9441EC37-D112-DD21-3E43-BA3392420FAD}"/>
              </a:ext>
            </a:extLst>
          </p:cNvPr>
          <p:cNvSpPr txBox="1"/>
          <p:nvPr/>
        </p:nvSpPr>
        <p:spPr>
          <a:xfrm>
            <a:off x="246821" y="5182034"/>
            <a:ext cx="11471414" cy="1477328"/>
          </a:xfrm>
          <a:prstGeom prst="rect">
            <a:avLst/>
          </a:prstGeom>
          <a:noFill/>
        </p:spPr>
        <p:txBody>
          <a:bodyPr wrap="square">
            <a:spAutoFit/>
          </a:bodyPr>
          <a:lstStyle/>
          <a:p>
            <a:r>
              <a:rPr lang="en-IN" b="1" dirty="0"/>
              <a:t>Best-Suited Cohesion Type:</a:t>
            </a:r>
          </a:p>
          <a:p>
            <a:pPr>
              <a:buFont typeface="Arial" panose="020B0604020202020204" pitchFamily="34" charset="0"/>
              <a:buChar char="•"/>
            </a:pPr>
            <a:r>
              <a:rPr lang="en-IN" dirty="0"/>
              <a:t>Sequential Cohesion is the best choice because it ensures logical relationships between methods where the output of one method is used by another.</a:t>
            </a:r>
          </a:p>
          <a:p>
            <a:pPr>
              <a:buFont typeface="Arial" panose="020B0604020202020204" pitchFamily="34" charset="0"/>
              <a:buChar char="•"/>
            </a:pPr>
            <a:r>
              <a:rPr lang="en-IN" dirty="0"/>
              <a:t>Coincidental Cohesion should be avoided, as it leads to unstructured and difficult-to-maintain code.</a:t>
            </a:r>
          </a:p>
          <a:p>
            <a:pPr>
              <a:buFont typeface="Arial" panose="020B0604020202020204" pitchFamily="34" charset="0"/>
              <a:buChar char="•"/>
            </a:pPr>
            <a:r>
              <a:rPr lang="en-IN" dirty="0"/>
              <a:t>Logical Cohesion is acceptable, but separating functions into dedicated methods improves clarity and modularity.</a:t>
            </a:r>
          </a:p>
        </p:txBody>
      </p:sp>
    </p:spTree>
    <p:extLst>
      <p:ext uri="{BB962C8B-B14F-4D97-AF65-F5344CB8AC3E}">
        <p14:creationId xmlns:p14="http://schemas.microsoft.com/office/powerpoint/2010/main" val="3993274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TotalTime>
  <Words>2595</Words>
  <Application>Microsoft Office PowerPoint</Application>
  <PresentationFormat>Widescreen</PresentationFormat>
  <Paragraphs>252</Paragraphs>
  <Slides>19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Aptos</vt:lpstr>
      <vt:lpstr>Arial</vt:lpstr>
      <vt:lpstr>Calibri</vt:lpstr>
      <vt:lpstr>Calibri Light</vt:lpstr>
      <vt:lpstr>Consolas</vt:lpstr>
      <vt:lpstr>Segoe UI Emoji</vt:lpstr>
      <vt:lpstr>Symbol</vt:lpstr>
      <vt:lpstr>urw-din</vt:lpstr>
      <vt:lpstr>Office Theme</vt:lpstr>
      <vt:lpstr>Coupling and Cohesion</vt:lpstr>
      <vt:lpstr>PowerPoint Presentation</vt:lpstr>
      <vt:lpstr>PowerPoint Presentation</vt:lpstr>
      <vt:lpstr>PowerPoint Presentation</vt:lpstr>
      <vt:lpstr>Coupling 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of Cohesion</vt:lpstr>
      <vt:lpstr>Solution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Coupling and Cohesion</dc:title>
  <dc:creator>Dr. Manmohan Sharma [MU - Jaipur]</dc:creator>
  <cp:lastModifiedBy>ARIIA - 2024 [MAHE-MIT]</cp:lastModifiedBy>
  <cp:revision>13</cp:revision>
  <dcterms:created xsi:type="dcterms:W3CDTF">2023-04-03T04:05:09Z</dcterms:created>
  <dcterms:modified xsi:type="dcterms:W3CDTF">2025-02-28T04:23:21Z</dcterms:modified>
</cp:coreProperties>
</file>