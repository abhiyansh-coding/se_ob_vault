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59" r:id="rId19"/>
    <p:sldId id="260" r:id="rId20"/>
    <p:sldId id="261" r:id="rId21"/>
    <p:sldId id="262" r:id="rId22"/>
    <p:sldId id="263" r:id="rId23"/>
    <p:sldId id="26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162342-5F5E-2E49-DC0A-39D03E05FB70}" v="3" dt="2023-02-22T22:31:31.055"/>
    <p1510:client id="{53C42D76-04EE-9FD8-58A5-A98D2D1ABFE5}" v="2" dt="2023-02-21T12:53:33.292"/>
    <p1510:client id="{DA3EECAA-F410-F58B-3120-36A1D6C0D720}" v="2" dt="2023-02-21T20:34:35.361"/>
    <p1510:client id="{DC8A36A7-5AF9-BCEE-539D-2A1F46C82BC9}" v="1" dt="2023-02-22T12:24:05.317"/>
    <p1510:client id="{F6B2E993-B36B-0ACB-EDD7-639A756B5213}" v="1" dt="2023-02-22T20:38:04.7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05c694d8bbf8676f36a0b56fe233ba8d3df0429b446c56cd87643459430bbf9e::" providerId="AD" clId="Web-{DC8A36A7-5AF9-BCEE-539D-2A1F46C82BC9}"/>
    <pc:docChg chg="modSld">
      <pc:chgData name="Guest User" userId="S::urn:spo:anon#05c694d8bbf8676f36a0b56fe233ba8d3df0429b446c56cd87643459430bbf9e::" providerId="AD" clId="Web-{DC8A36A7-5AF9-BCEE-539D-2A1F46C82BC9}" dt="2023-02-22T12:24:05.317" v="0" actId="1076"/>
      <pc:docMkLst>
        <pc:docMk/>
      </pc:docMkLst>
      <pc:sldChg chg="modSp">
        <pc:chgData name="Guest User" userId="S::urn:spo:anon#05c694d8bbf8676f36a0b56fe233ba8d3df0429b446c56cd87643459430bbf9e::" providerId="AD" clId="Web-{DC8A36A7-5AF9-BCEE-539D-2A1F46C82BC9}" dt="2023-02-22T12:24:05.317" v="0" actId="1076"/>
        <pc:sldMkLst>
          <pc:docMk/>
          <pc:sldMk cId="1507336714" sldId="258"/>
        </pc:sldMkLst>
        <pc:picChg chg="mod">
          <ac:chgData name="Guest User" userId="S::urn:spo:anon#05c694d8bbf8676f36a0b56fe233ba8d3df0429b446c56cd87643459430bbf9e::" providerId="AD" clId="Web-{DC8A36A7-5AF9-BCEE-539D-2A1F46C82BC9}" dt="2023-02-22T12:24:05.317" v="0" actId="1076"/>
          <ac:picMkLst>
            <pc:docMk/>
            <pc:sldMk cId="1507336714" sldId="258"/>
            <ac:picMk id="5" creationId="{5300436B-C87A-1688-32FA-634D68984640}"/>
          </ac:picMkLst>
        </pc:picChg>
      </pc:sldChg>
    </pc:docChg>
  </pc:docChgLst>
  <pc:docChgLst>
    <pc:chgData name="Guest User" userId="S::urn:spo:anon#05c694d8bbf8676f36a0b56fe233ba8d3df0429b446c56cd87643459430bbf9e::" providerId="AD" clId="Web-{F6B2E993-B36B-0ACB-EDD7-639A756B5213}"/>
    <pc:docChg chg="delSld">
      <pc:chgData name="Guest User" userId="S::urn:spo:anon#05c694d8bbf8676f36a0b56fe233ba8d3df0429b446c56cd87643459430bbf9e::" providerId="AD" clId="Web-{F6B2E993-B36B-0ACB-EDD7-639A756B5213}" dt="2023-02-22T20:38:04.755" v="0"/>
      <pc:docMkLst>
        <pc:docMk/>
      </pc:docMkLst>
      <pc:sldChg chg="del">
        <pc:chgData name="Guest User" userId="S::urn:spo:anon#05c694d8bbf8676f36a0b56fe233ba8d3df0429b446c56cd87643459430bbf9e::" providerId="AD" clId="Web-{F6B2E993-B36B-0ACB-EDD7-639A756B5213}" dt="2023-02-22T20:38:04.755" v="0"/>
        <pc:sldMkLst>
          <pc:docMk/>
          <pc:sldMk cId="1507336714" sldId="258"/>
        </pc:sldMkLst>
      </pc:sldChg>
    </pc:docChg>
  </pc:docChgLst>
  <pc:docChgLst>
    <pc:chgData name="Guest User" userId="S::urn:spo:anon#05c694d8bbf8676f36a0b56fe233ba8d3df0429b446c56cd87643459430bbf9e::" providerId="AD" clId="Web-{DA3EECAA-F410-F58B-3120-36A1D6C0D720}"/>
    <pc:docChg chg="sldOrd">
      <pc:chgData name="Guest User" userId="S::urn:spo:anon#05c694d8bbf8676f36a0b56fe233ba8d3df0429b446c56cd87643459430bbf9e::" providerId="AD" clId="Web-{DA3EECAA-F410-F58B-3120-36A1D6C0D720}" dt="2023-02-21T20:34:35.361" v="1"/>
      <pc:docMkLst>
        <pc:docMk/>
      </pc:docMkLst>
      <pc:sldChg chg="ord">
        <pc:chgData name="Guest User" userId="S::urn:spo:anon#05c694d8bbf8676f36a0b56fe233ba8d3df0429b446c56cd87643459430bbf9e::" providerId="AD" clId="Web-{DA3EECAA-F410-F58B-3120-36A1D6C0D720}" dt="2023-02-21T20:34:35.361" v="1"/>
        <pc:sldMkLst>
          <pc:docMk/>
          <pc:sldMk cId="898990410" sldId="260"/>
        </pc:sldMkLst>
      </pc:sldChg>
    </pc:docChg>
  </pc:docChgLst>
  <pc:docChgLst>
    <pc:chgData name="Guest User" userId="S::urn:spo:anon#05c694d8bbf8676f36a0b56fe233ba8d3df0429b446c56cd87643459430bbf9e::" providerId="AD" clId="Web-{53C42D76-04EE-9FD8-58A5-A98D2D1ABFE5}"/>
    <pc:docChg chg="modSld">
      <pc:chgData name="Guest User" userId="S::urn:spo:anon#05c694d8bbf8676f36a0b56fe233ba8d3df0429b446c56cd87643459430bbf9e::" providerId="AD" clId="Web-{53C42D76-04EE-9FD8-58A5-A98D2D1ABFE5}" dt="2023-02-21T12:53:33.292" v="1" actId="1076"/>
      <pc:docMkLst>
        <pc:docMk/>
      </pc:docMkLst>
      <pc:sldChg chg="modSp">
        <pc:chgData name="Guest User" userId="S::urn:spo:anon#05c694d8bbf8676f36a0b56fe233ba8d3df0429b446c56cd87643459430bbf9e::" providerId="AD" clId="Web-{53C42D76-04EE-9FD8-58A5-A98D2D1ABFE5}" dt="2023-02-21T12:53:33.292" v="1" actId="1076"/>
        <pc:sldMkLst>
          <pc:docMk/>
          <pc:sldMk cId="720582180" sldId="261"/>
        </pc:sldMkLst>
        <pc:picChg chg="mod">
          <ac:chgData name="Guest User" userId="S::urn:spo:anon#05c694d8bbf8676f36a0b56fe233ba8d3df0429b446c56cd87643459430bbf9e::" providerId="AD" clId="Web-{53C42D76-04EE-9FD8-58A5-A98D2D1ABFE5}" dt="2023-02-21T12:53:33.292" v="1" actId="1076"/>
          <ac:picMkLst>
            <pc:docMk/>
            <pc:sldMk cId="720582180" sldId="261"/>
            <ac:picMk id="4" creationId="{F06DF6AB-B7B3-4A03-198F-E80B230CB6E0}"/>
          </ac:picMkLst>
        </pc:picChg>
      </pc:sldChg>
    </pc:docChg>
  </pc:docChgLst>
  <pc:docChgLst>
    <pc:chgData name="Guest User" userId="S::urn:spo:anon#05c694d8bbf8676f36a0b56fe233ba8d3df0429b446c56cd87643459430bbf9e::" providerId="AD" clId="Web-{06162342-5F5E-2E49-DC0A-39D03E05FB70}"/>
    <pc:docChg chg="modSld">
      <pc:chgData name="Guest User" userId="S::urn:spo:anon#05c694d8bbf8676f36a0b56fe233ba8d3df0429b446c56cd87643459430bbf9e::" providerId="AD" clId="Web-{06162342-5F5E-2E49-DC0A-39D03E05FB70}" dt="2023-02-22T22:31:31.055" v="2" actId="14100"/>
      <pc:docMkLst>
        <pc:docMk/>
      </pc:docMkLst>
      <pc:sldChg chg="modSp">
        <pc:chgData name="Guest User" userId="S::urn:spo:anon#05c694d8bbf8676f36a0b56fe233ba8d3df0429b446c56cd87643459430bbf9e::" providerId="AD" clId="Web-{06162342-5F5E-2E49-DC0A-39D03E05FB70}" dt="2023-02-22T22:31:31.055" v="2" actId="14100"/>
        <pc:sldMkLst>
          <pc:docMk/>
          <pc:sldMk cId="720582180" sldId="261"/>
        </pc:sldMkLst>
        <pc:picChg chg="mod">
          <ac:chgData name="Guest User" userId="S::urn:spo:anon#05c694d8bbf8676f36a0b56fe233ba8d3df0429b446c56cd87643459430bbf9e::" providerId="AD" clId="Web-{06162342-5F5E-2E49-DC0A-39D03E05FB70}" dt="2023-02-22T22:31:31.055" v="2" actId="14100"/>
          <ac:picMkLst>
            <pc:docMk/>
            <pc:sldMk cId="720582180" sldId="261"/>
            <ac:picMk id="4" creationId="{F06DF6AB-B7B3-4A03-198F-E80B230CB6E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3105D-4675-7437-8885-9A6FF79657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EDFEB7-3CAC-7128-B6A8-1764280A65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6EA827-DF7F-854F-F22A-CFDAFFADA8D9}"/>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5" name="Footer Placeholder 4">
            <a:extLst>
              <a:ext uri="{FF2B5EF4-FFF2-40B4-BE49-F238E27FC236}">
                <a16:creationId xmlns:a16="http://schemas.microsoft.com/office/drawing/2014/main" id="{ABABA803-D5C0-CAF9-AA5A-70744CD6E5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73CEAC-F6F7-6E97-D0E4-99071D54ACF2}"/>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1446937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9D6DD-38FB-4238-9B9D-D070B91C8A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C8C807-0E01-3D74-88FA-C2467505F3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E5AC6E-53BD-2844-EB98-512D40577FB3}"/>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5" name="Footer Placeholder 4">
            <a:extLst>
              <a:ext uri="{FF2B5EF4-FFF2-40B4-BE49-F238E27FC236}">
                <a16:creationId xmlns:a16="http://schemas.microsoft.com/office/drawing/2014/main" id="{CFB5F974-76A8-86A9-7146-69D377F686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8EC873-B3CF-49CB-1772-CA648B4378D1}"/>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2447844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88AB5-6B8C-03BA-217C-0CCCD8E4EC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804AE9-E047-30DB-0B2E-516D551CF4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361403-75E1-9816-0B9F-55D9B5B40F6A}"/>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5" name="Footer Placeholder 4">
            <a:extLst>
              <a:ext uri="{FF2B5EF4-FFF2-40B4-BE49-F238E27FC236}">
                <a16:creationId xmlns:a16="http://schemas.microsoft.com/office/drawing/2014/main" id="{A0271BC7-3E3C-95E8-3B6F-FCC9EB8048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3EF518-413F-BA3E-4BA1-6FFFD97FD464}"/>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653195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630FE-2598-4293-46D1-C1CEEEAF9B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4545A3-14B0-D525-D45E-36192CDB48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C2A7A6-D93E-FAF1-BEBA-8816CB02EE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C3CAB5-8CA0-6FE3-00A4-CAF9B39A3138}"/>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6" name="Footer Placeholder 5">
            <a:extLst>
              <a:ext uri="{FF2B5EF4-FFF2-40B4-BE49-F238E27FC236}">
                <a16:creationId xmlns:a16="http://schemas.microsoft.com/office/drawing/2014/main" id="{F4BA75B4-3DD1-8E86-D5FA-0180A26BD8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4A719C-F1D6-E04A-F833-F3C7BEA6CA13}"/>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35566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74BC-D66B-8B37-D13D-06B0BD7F5E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EDBFA0-AAF7-2463-B5DD-E92C08DA27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95EB78-1F02-B016-6EF4-289AF27E2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9DEB9E-07F1-A7A4-C825-A194BFAC4C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9E6701-437F-D002-B629-54A5F1A8AF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4A65F3-77F7-87B9-C0D8-FDE65ED239CB}"/>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8" name="Footer Placeholder 7">
            <a:extLst>
              <a:ext uri="{FF2B5EF4-FFF2-40B4-BE49-F238E27FC236}">
                <a16:creationId xmlns:a16="http://schemas.microsoft.com/office/drawing/2014/main" id="{F23910F5-0C3C-93C5-A6A1-4B7CAFDF39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48A1D8-2195-4781-C007-3ED75756048C}"/>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1940880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09002-567C-C5ED-7595-F69EA09C47F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F29872-5A7C-6E42-5EFB-0A1C059FE953}"/>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4" name="Footer Placeholder 3">
            <a:extLst>
              <a:ext uri="{FF2B5EF4-FFF2-40B4-BE49-F238E27FC236}">
                <a16:creationId xmlns:a16="http://schemas.microsoft.com/office/drawing/2014/main" id="{E905A2EC-334D-3876-36D1-482DE1AE82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DCAB30-1596-6A82-B9E6-74D3EFBB1F85}"/>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1042076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915EA3-5974-1E80-2BD8-7266DBC54D21}"/>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3" name="Footer Placeholder 2">
            <a:extLst>
              <a:ext uri="{FF2B5EF4-FFF2-40B4-BE49-F238E27FC236}">
                <a16:creationId xmlns:a16="http://schemas.microsoft.com/office/drawing/2014/main" id="{FC48983D-56A5-F26B-A394-38993530D0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E8E645-B64C-1129-BF66-5C18DE5EA524}"/>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3043263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4FD5B-3601-97B8-1AA2-F224B7B2BA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ADF239-679F-24EB-BBE2-545C1A086E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FE4013-DF96-4D08-0F9D-3D09628B22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7E014-BF81-51FB-83B7-44B358E2C8B6}"/>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6" name="Footer Placeholder 5">
            <a:extLst>
              <a:ext uri="{FF2B5EF4-FFF2-40B4-BE49-F238E27FC236}">
                <a16:creationId xmlns:a16="http://schemas.microsoft.com/office/drawing/2014/main" id="{B368FEC2-6C1D-5C11-E46A-CBE58A094F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040333-E4CE-50B3-013F-A42F6A20A6C3}"/>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2902524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A3BA5-EA20-DD4F-5D6B-EB95644DA4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086ABC-0561-E46B-EAD0-9428CD1885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544295-893A-F01F-8CE7-56FDF5A178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6F1CE1-3B8B-C6B3-ED90-4A258529095D}"/>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6" name="Footer Placeholder 5">
            <a:extLst>
              <a:ext uri="{FF2B5EF4-FFF2-40B4-BE49-F238E27FC236}">
                <a16:creationId xmlns:a16="http://schemas.microsoft.com/office/drawing/2014/main" id="{044E323B-A6B8-74B5-34AA-E033A25F45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A9F9A0-B2EB-A16B-57B9-0FC6D9B919FA}"/>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3641277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D1746-0FF3-55D9-A233-56F8FE0142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C50508-CBEF-01F0-AA56-BD929022F1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F5BEF1-4A37-43E9-0C2F-481E4D22A061}"/>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5" name="Footer Placeholder 4">
            <a:extLst>
              <a:ext uri="{FF2B5EF4-FFF2-40B4-BE49-F238E27FC236}">
                <a16:creationId xmlns:a16="http://schemas.microsoft.com/office/drawing/2014/main" id="{5A7220F6-A040-4A51-8700-AAED3F1CB6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6EC25-5E89-FC0F-5A2D-0B9D51764C8D}"/>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380062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AFCB99-E69A-3E84-3614-ECD9B4F1AA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F693E5-796C-783C-8025-755AFDFA50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FC7CF4-82F3-2266-900B-4AC5553E71DC}"/>
              </a:ext>
            </a:extLst>
          </p:cNvPr>
          <p:cNvSpPr>
            <a:spLocks noGrp="1"/>
          </p:cNvSpPr>
          <p:nvPr>
            <p:ph type="dt" sz="half" idx="10"/>
          </p:nvPr>
        </p:nvSpPr>
        <p:spPr/>
        <p:txBody>
          <a:bodyPr/>
          <a:lstStyle/>
          <a:p>
            <a:fld id="{9609988A-1569-485F-AB2F-8D2932F32504}" type="datetimeFigureOut">
              <a:rPr lang="en-US" smtClean="0"/>
              <a:t>2/19/2024</a:t>
            </a:fld>
            <a:endParaRPr lang="en-US"/>
          </a:p>
        </p:txBody>
      </p:sp>
      <p:sp>
        <p:nvSpPr>
          <p:cNvPr id="5" name="Footer Placeholder 4">
            <a:extLst>
              <a:ext uri="{FF2B5EF4-FFF2-40B4-BE49-F238E27FC236}">
                <a16:creationId xmlns:a16="http://schemas.microsoft.com/office/drawing/2014/main" id="{4CC614E9-274B-CA91-FD5C-2C98A1B27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AC6A18-76B3-943F-00E0-F05738325C6B}"/>
              </a:ext>
            </a:extLst>
          </p:cNvPr>
          <p:cNvSpPr>
            <a:spLocks noGrp="1"/>
          </p:cNvSpPr>
          <p:nvPr>
            <p:ph type="sldNum" sz="quarter" idx="12"/>
          </p:nvPr>
        </p:nvSpPr>
        <p:spPr/>
        <p:txBody>
          <a:bodyPr/>
          <a:lstStyle/>
          <a:p>
            <a:fld id="{B7819BCB-08D6-4A01-86CC-DBFC239C280A}" type="slidenum">
              <a:rPr lang="en-US" smtClean="0"/>
              <a:t>‹#›</a:t>
            </a:fld>
            <a:endParaRPr lang="en-US"/>
          </a:p>
        </p:txBody>
      </p:sp>
    </p:spTree>
    <p:extLst>
      <p:ext uri="{BB962C8B-B14F-4D97-AF65-F5344CB8AC3E}">
        <p14:creationId xmlns:p14="http://schemas.microsoft.com/office/powerpoint/2010/main" val="4135126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025C94-04D6-B91D-2FC8-F3A8942FBA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33CB14-055F-0E04-28C6-25E507E49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81F9BD-F8F2-9919-5E2F-005E5A403F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09988A-1569-485F-AB2F-8D2932F32504}" type="datetimeFigureOut">
              <a:rPr lang="en-US" smtClean="0"/>
              <a:t>2/19/2024</a:t>
            </a:fld>
            <a:endParaRPr lang="en-US"/>
          </a:p>
        </p:txBody>
      </p:sp>
      <p:sp>
        <p:nvSpPr>
          <p:cNvPr id="5" name="Footer Placeholder 4">
            <a:extLst>
              <a:ext uri="{FF2B5EF4-FFF2-40B4-BE49-F238E27FC236}">
                <a16:creationId xmlns:a16="http://schemas.microsoft.com/office/drawing/2014/main" id="{37BF0BAB-14AA-B675-D260-4968B0674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AD304B-F0A1-31E2-45D2-F2CE51AC40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819BCB-08D6-4A01-86CC-DBFC239C280A}" type="slidenum">
              <a:rPr lang="en-US" smtClean="0"/>
              <a:t>‹#›</a:t>
            </a:fld>
            <a:endParaRPr lang="en-US"/>
          </a:p>
        </p:txBody>
      </p:sp>
    </p:spTree>
    <p:extLst>
      <p:ext uri="{BB962C8B-B14F-4D97-AF65-F5344CB8AC3E}">
        <p14:creationId xmlns:p14="http://schemas.microsoft.com/office/powerpoint/2010/main" val="3240802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EAC2A-6195-CE4C-3072-672B5B762315}"/>
              </a:ext>
            </a:extLst>
          </p:cNvPr>
          <p:cNvSpPr>
            <a:spLocks noGrp="1"/>
          </p:cNvSpPr>
          <p:nvPr>
            <p:ph type="ctrTitle"/>
          </p:nvPr>
        </p:nvSpPr>
        <p:spPr/>
        <p:txBody>
          <a:bodyPr/>
          <a:lstStyle/>
          <a:p>
            <a:r>
              <a:rPr lang="en-US"/>
              <a:t>UML</a:t>
            </a:r>
          </a:p>
        </p:txBody>
      </p:sp>
      <p:sp>
        <p:nvSpPr>
          <p:cNvPr id="3" name="Subtitle 2">
            <a:extLst>
              <a:ext uri="{FF2B5EF4-FFF2-40B4-BE49-F238E27FC236}">
                <a16:creationId xmlns:a16="http://schemas.microsoft.com/office/drawing/2014/main" id="{0216821B-7F73-03B4-7A0C-93266A4811A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31293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1C7ED-8D35-CD81-0D5E-8E978EC34B37}"/>
              </a:ext>
            </a:extLst>
          </p:cNvPr>
          <p:cNvSpPr>
            <a:spLocks noGrp="1"/>
          </p:cNvSpPr>
          <p:nvPr>
            <p:ph type="title"/>
          </p:nvPr>
        </p:nvSpPr>
        <p:spPr>
          <a:xfrm>
            <a:off x="838200" y="365125"/>
            <a:ext cx="10515600" cy="892175"/>
          </a:xfrm>
        </p:spPr>
        <p:txBody>
          <a:bodyPr/>
          <a:lstStyle/>
          <a:p>
            <a:r>
              <a:rPr lang="en-US"/>
              <a:t>Data Flow Diagram (DFD)</a:t>
            </a:r>
          </a:p>
        </p:txBody>
      </p:sp>
      <p:sp>
        <p:nvSpPr>
          <p:cNvPr id="3" name="Content Placeholder 2">
            <a:extLst>
              <a:ext uri="{FF2B5EF4-FFF2-40B4-BE49-F238E27FC236}">
                <a16:creationId xmlns:a16="http://schemas.microsoft.com/office/drawing/2014/main" id="{952D8580-4380-573F-1E56-4B5023AC6847}"/>
              </a:ext>
            </a:extLst>
          </p:cNvPr>
          <p:cNvSpPr>
            <a:spLocks noGrp="1"/>
          </p:cNvSpPr>
          <p:nvPr>
            <p:ph idx="1"/>
          </p:nvPr>
        </p:nvSpPr>
        <p:spPr>
          <a:xfrm>
            <a:off x="838200" y="1257300"/>
            <a:ext cx="10515600" cy="4919663"/>
          </a:xfrm>
        </p:spPr>
        <p:txBody>
          <a:bodyPr/>
          <a:lstStyle/>
          <a:p>
            <a:pPr>
              <a:lnSpc>
                <a:spcPct val="115000"/>
              </a:lnSpc>
              <a:spcBef>
                <a:spcPts val="0"/>
              </a:spcBef>
              <a:spcAft>
                <a:spcPts val="1000"/>
              </a:spcAft>
            </a:pPr>
            <a:r>
              <a:rPr lang="en-US" sz="2800">
                <a:effectLst/>
                <a:latin typeface="Calibri" panose="020F0502020204030204" pitchFamily="34" charset="0"/>
                <a:ea typeface="Calibri" panose="020F0502020204030204" pitchFamily="34" charset="0"/>
                <a:cs typeface="Mangal" panose="02040503050203030202" pitchFamily="18" charset="0"/>
              </a:rPr>
              <a:t>Data Flow Diagram (DFD) provides a visual representation of the flow of information (i.e. data) within a system. </a:t>
            </a:r>
          </a:p>
          <a:p>
            <a:pPr>
              <a:lnSpc>
                <a:spcPct val="115000"/>
              </a:lnSpc>
              <a:spcBef>
                <a:spcPts val="0"/>
              </a:spcBef>
              <a:spcAft>
                <a:spcPts val="1000"/>
              </a:spcAft>
            </a:pPr>
            <a:r>
              <a:rPr lang="en-US" sz="2800">
                <a:effectLst/>
                <a:latin typeface="Calibri" panose="020F0502020204030204" pitchFamily="34" charset="0"/>
                <a:ea typeface="Calibri" panose="020F0502020204030204" pitchFamily="34" charset="0"/>
                <a:cs typeface="Mangal" panose="02040503050203030202" pitchFamily="18" charset="0"/>
              </a:rPr>
              <a:t>By drawing a Data Flow Diagram, you can tell the information provided by and delivered to someone who takes part in system processes, the information needed to complete the processes and the information needed to be stored and accessed.</a:t>
            </a:r>
            <a:endParaRPr lang="en-US" sz="240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US"/>
          </a:p>
        </p:txBody>
      </p:sp>
    </p:spTree>
    <p:extLst>
      <p:ext uri="{BB962C8B-B14F-4D97-AF65-F5344CB8AC3E}">
        <p14:creationId xmlns:p14="http://schemas.microsoft.com/office/powerpoint/2010/main" val="3883517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3B6017-F2A1-4A1E-C809-C8DE93B78F26}"/>
              </a:ext>
            </a:extLst>
          </p:cNvPr>
          <p:cNvPicPr>
            <a:picLocks noChangeAspect="1"/>
          </p:cNvPicPr>
          <p:nvPr/>
        </p:nvPicPr>
        <p:blipFill rotWithShape="1">
          <a:blip r:embed="rId2"/>
          <a:srcRect l="6048" t="25364" r="37218" b="8797"/>
          <a:stretch/>
        </p:blipFill>
        <p:spPr>
          <a:xfrm>
            <a:off x="781663" y="166934"/>
            <a:ext cx="9999407" cy="6524132"/>
          </a:xfrm>
          <a:prstGeom prst="rect">
            <a:avLst/>
          </a:prstGeom>
        </p:spPr>
      </p:pic>
    </p:spTree>
    <p:extLst>
      <p:ext uri="{BB962C8B-B14F-4D97-AF65-F5344CB8AC3E}">
        <p14:creationId xmlns:p14="http://schemas.microsoft.com/office/powerpoint/2010/main" val="268970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1B8257-89CD-D2AA-C31E-0E09C9FC0ACC}"/>
              </a:ext>
            </a:extLst>
          </p:cNvPr>
          <p:cNvPicPr>
            <a:picLocks noChangeAspect="1"/>
          </p:cNvPicPr>
          <p:nvPr/>
        </p:nvPicPr>
        <p:blipFill rotWithShape="1">
          <a:blip r:embed="rId2"/>
          <a:srcRect l="6290" t="24719" r="36613" b="13531"/>
          <a:stretch/>
        </p:blipFill>
        <p:spPr>
          <a:xfrm>
            <a:off x="781664" y="486698"/>
            <a:ext cx="10427110" cy="6340212"/>
          </a:xfrm>
          <a:prstGeom prst="rect">
            <a:avLst/>
          </a:prstGeom>
        </p:spPr>
      </p:pic>
    </p:spTree>
    <p:extLst>
      <p:ext uri="{BB962C8B-B14F-4D97-AF65-F5344CB8AC3E}">
        <p14:creationId xmlns:p14="http://schemas.microsoft.com/office/powerpoint/2010/main" val="4076844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9E7A44-46C1-4BBC-11EA-C0C5F9F85DFA}"/>
              </a:ext>
            </a:extLst>
          </p:cNvPr>
          <p:cNvPicPr>
            <a:picLocks noChangeAspect="1"/>
          </p:cNvPicPr>
          <p:nvPr/>
        </p:nvPicPr>
        <p:blipFill rotWithShape="1">
          <a:blip r:embed="rId2"/>
          <a:srcRect l="5928" t="24073" r="36734" b="12669"/>
          <a:stretch/>
        </p:blipFill>
        <p:spPr>
          <a:xfrm>
            <a:off x="604683" y="206477"/>
            <a:ext cx="10648336" cy="6445045"/>
          </a:xfrm>
          <a:prstGeom prst="rect">
            <a:avLst/>
          </a:prstGeom>
        </p:spPr>
      </p:pic>
    </p:spTree>
    <p:extLst>
      <p:ext uri="{BB962C8B-B14F-4D97-AF65-F5344CB8AC3E}">
        <p14:creationId xmlns:p14="http://schemas.microsoft.com/office/powerpoint/2010/main" val="373564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544485-97C3-6933-4862-5FA7B4EFB7DD}"/>
              </a:ext>
            </a:extLst>
          </p:cNvPr>
          <p:cNvPicPr>
            <a:picLocks noChangeAspect="1"/>
          </p:cNvPicPr>
          <p:nvPr/>
        </p:nvPicPr>
        <p:blipFill rotWithShape="1">
          <a:blip r:embed="rId2"/>
          <a:srcRect l="6532" t="25150" r="35524" b="9011"/>
          <a:stretch/>
        </p:blipFill>
        <p:spPr>
          <a:xfrm>
            <a:off x="648928" y="187925"/>
            <a:ext cx="10146892" cy="6482149"/>
          </a:xfrm>
          <a:prstGeom prst="rect">
            <a:avLst/>
          </a:prstGeom>
        </p:spPr>
      </p:pic>
    </p:spTree>
    <p:extLst>
      <p:ext uri="{BB962C8B-B14F-4D97-AF65-F5344CB8AC3E}">
        <p14:creationId xmlns:p14="http://schemas.microsoft.com/office/powerpoint/2010/main" val="1314710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21D75F-BBF4-1DA4-536A-04C1BF353D08}"/>
              </a:ext>
            </a:extLst>
          </p:cNvPr>
          <p:cNvPicPr>
            <a:picLocks noChangeAspect="1"/>
          </p:cNvPicPr>
          <p:nvPr/>
        </p:nvPicPr>
        <p:blipFill rotWithShape="1">
          <a:blip r:embed="rId2"/>
          <a:srcRect l="8346" t="24935" r="34677" b="9012"/>
          <a:stretch/>
        </p:blipFill>
        <p:spPr>
          <a:xfrm>
            <a:off x="516193" y="203815"/>
            <a:ext cx="9896168" cy="6450369"/>
          </a:xfrm>
          <a:prstGeom prst="rect">
            <a:avLst/>
          </a:prstGeom>
        </p:spPr>
      </p:pic>
    </p:spTree>
    <p:extLst>
      <p:ext uri="{BB962C8B-B14F-4D97-AF65-F5344CB8AC3E}">
        <p14:creationId xmlns:p14="http://schemas.microsoft.com/office/powerpoint/2010/main" val="2636996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4981DE-03DB-556B-25AA-2DF2A5F1B496}"/>
              </a:ext>
            </a:extLst>
          </p:cNvPr>
          <p:cNvPicPr>
            <a:picLocks noChangeAspect="1"/>
          </p:cNvPicPr>
          <p:nvPr/>
        </p:nvPicPr>
        <p:blipFill rotWithShape="1">
          <a:blip r:embed="rId2"/>
          <a:srcRect l="10645" t="24719" r="35645" b="14391"/>
          <a:stretch/>
        </p:blipFill>
        <p:spPr>
          <a:xfrm>
            <a:off x="781663" y="214051"/>
            <a:ext cx="10087897" cy="6429897"/>
          </a:xfrm>
          <a:prstGeom prst="rect">
            <a:avLst/>
          </a:prstGeom>
        </p:spPr>
      </p:pic>
    </p:spTree>
    <p:extLst>
      <p:ext uri="{BB962C8B-B14F-4D97-AF65-F5344CB8AC3E}">
        <p14:creationId xmlns:p14="http://schemas.microsoft.com/office/powerpoint/2010/main" val="225056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E6BBB4-563F-E2AF-973A-46032A0AA589}"/>
              </a:ext>
            </a:extLst>
          </p:cNvPr>
          <p:cNvPicPr>
            <a:picLocks noChangeAspect="1"/>
          </p:cNvPicPr>
          <p:nvPr/>
        </p:nvPicPr>
        <p:blipFill rotWithShape="1">
          <a:blip r:embed="rId2"/>
          <a:srcRect l="6895" t="32034" r="36492" b="12885"/>
          <a:stretch/>
        </p:blipFill>
        <p:spPr>
          <a:xfrm>
            <a:off x="619432" y="412955"/>
            <a:ext cx="10471355" cy="6179574"/>
          </a:xfrm>
          <a:prstGeom prst="rect">
            <a:avLst/>
          </a:prstGeom>
        </p:spPr>
      </p:pic>
    </p:spTree>
    <p:extLst>
      <p:ext uri="{BB962C8B-B14F-4D97-AF65-F5344CB8AC3E}">
        <p14:creationId xmlns:p14="http://schemas.microsoft.com/office/powerpoint/2010/main" val="2657538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6D67C3-2199-EACF-71B0-9589892E83E5}"/>
              </a:ext>
            </a:extLst>
          </p:cNvPr>
          <p:cNvPicPr>
            <a:picLocks noChangeAspect="1"/>
          </p:cNvPicPr>
          <p:nvPr/>
        </p:nvPicPr>
        <p:blipFill rotWithShape="1">
          <a:blip r:embed="rId2"/>
          <a:srcRect l="6532" t="26225" r="35161" b="9011"/>
          <a:stretch/>
        </p:blipFill>
        <p:spPr>
          <a:xfrm>
            <a:off x="634180" y="368709"/>
            <a:ext cx="10441859" cy="6520746"/>
          </a:xfrm>
          <a:prstGeom prst="rect">
            <a:avLst/>
          </a:prstGeom>
        </p:spPr>
      </p:pic>
    </p:spTree>
    <p:extLst>
      <p:ext uri="{BB962C8B-B14F-4D97-AF65-F5344CB8AC3E}">
        <p14:creationId xmlns:p14="http://schemas.microsoft.com/office/powerpoint/2010/main" val="1035667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7EBF04-F9B4-BF79-AA2C-D64A43409647}"/>
              </a:ext>
            </a:extLst>
          </p:cNvPr>
          <p:cNvPicPr>
            <a:picLocks noChangeAspect="1"/>
          </p:cNvPicPr>
          <p:nvPr/>
        </p:nvPicPr>
        <p:blipFill rotWithShape="1">
          <a:blip r:embed="rId2"/>
          <a:srcRect l="7136" t="22352" r="41816" b="9657"/>
          <a:stretch/>
        </p:blipFill>
        <p:spPr>
          <a:xfrm>
            <a:off x="486697" y="231802"/>
            <a:ext cx="9529500" cy="6394396"/>
          </a:xfrm>
          <a:prstGeom prst="rect">
            <a:avLst/>
          </a:prstGeom>
        </p:spPr>
      </p:pic>
    </p:spTree>
    <p:extLst>
      <p:ext uri="{BB962C8B-B14F-4D97-AF65-F5344CB8AC3E}">
        <p14:creationId xmlns:p14="http://schemas.microsoft.com/office/powerpoint/2010/main" val="2217055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5028CE-91EB-2A6E-E02F-4CF5E245E734}"/>
              </a:ext>
            </a:extLst>
          </p:cNvPr>
          <p:cNvPicPr>
            <a:picLocks noChangeAspect="1"/>
          </p:cNvPicPr>
          <p:nvPr/>
        </p:nvPicPr>
        <p:blipFill rotWithShape="1">
          <a:blip r:embed="rId2"/>
          <a:srcRect l="6775" t="27516" r="36007" b="14821"/>
          <a:stretch/>
        </p:blipFill>
        <p:spPr>
          <a:xfrm>
            <a:off x="707923" y="427704"/>
            <a:ext cx="10309122" cy="5841109"/>
          </a:xfrm>
          <a:prstGeom prst="rect">
            <a:avLst/>
          </a:prstGeom>
        </p:spPr>
      </p:pic>
    </p:spTree>
    <p:extLst>
      <p:ext uri="{BB962C8B-B14F-4D97-AF65-F5344CB8AC3E}">
        <p14:creationId xmlns:p14="http://schemas.microsoft.com/office/powerpoint/2010/main" val="4206628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8C0A0B-EE35-15B9-1C39-1165831F3D90}"/>
              </a:ext>
            </a:extLst>
          </p:cNvPr>
          <p:cNvPicPr>
            <a:picLocks noChangeAspect="1"/>
          </p:cNvPicPr>
          <p:nvPr/>
        </p:nvPicPr>
        <p:blipFill rotWithShape="1">
          <a:blip r:embed="rId2"/>
          <a:srcRect l="7016" t="24504" r="36008" b="10303"/>
          <a:stretch/>
        </p:blipFill>
        <p:spPr>
          <a:xfrm>
            <a:off x="545689" y="383458"/>
            <a:ext cx="10043653" cy="6461202"/>
          </a:xfrm>
          <a:prstGeom prst="rect">
            <a:avLst/>
          </a:prstGeom>
        </p:spPr>
      </p:pic>
    </p:spTree>
    <p:extLst>
      <p:ext uri="{BB962C8B-B14F-4D97-AF65-F5344CB8AC3E}">
        <p14:creationId xmlns:p14="http://schemas.microsoft.com/office/powerpoint/2010/main" val="1865936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61B5B8-5FEF-8633-14F7-22B8D8889CE9}"/>
              </a:ext>
            </a:extLst>
          </p:cNvPr>
          <p:cNvPicPr>
            <a:picLocks noChangeAspect="1"/>
          </p:cNvPicPr>
          <p:nvPr/>
        </p:nvPicPr>
        <p:blipFill rotWithShape="1">
          <a:blip r:embed="rId2"/>
          <a:srcRect l="7137" t="23429" r="36855" b="7290"/>
          <a:stretch/>
        </p:blipFill>
        <p:spPr>
          <a:xfrm>
            <a:off x="634180" y="223694"/>
            <a:ext cx="9217742" cy="6410611"/>
          </a:xfrm>
          <a:prstGeom prst="rect">
            <a:avLst/>
          </a:prstGeom>
        </p:spPr>
      </p:pic>
    </p:spTree>
    <p:extLst>
      <p:ext uri="{BB962C8B-B14F-4D97-AF65-F5344CB8AC3E}">
        <p14:creationId xmlns:p14="http://schemas.microsoft.com/office/powerpoint/2010/main" val="3809289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3780FD-ABE7-4BC7-D22B-09F02C6DD356}"/>
              </a:ext>
            </a:extLst>
          </p:cNvPr>
          <p:cNvSpPr>
            <a:spLocks noGrp="1"/>
          </p:cNvSpPr>
          <p:nvPr>
            <p:ph idx="1"/>
          </p:nvPr>
        </p:nvSpPr>
        <p:spPr>
          <a:xfrm>
            <a:off x="838200" y="447675"/>
            <a:ext cx="10515600" cy="5729288"/>
          </a:xfrm>
        </p:spPr>
        <p:txBody>
          <a:bodyPr/>
          <a:lstStyle/>
          <a:p>
            <a:pPr marL="0" indent="0">
              <a:buNone/>
            </a:pPr>
            <a:r>
              <a:rPr lang="en-US" b="1"/>
              <a:t>The Food Ordering System Example</a:t>
            </a:r>
          </a:p>
          <a:p>
            <a:pPr marL="0" indent="0">
              <a:buNone/>
            </a:pPr>
            <a:r>
              <a:rPr lang="en-US"/>
              <a:t>Context DFD</a:t>
            </a:r>
          </a:p>
          <a:p>
            <a:pPr marL="0" indent="0">
              <a:buNone/>
            </a:pPr>
            <a:r>
              <a:rPr lang="en-US"/>
              <a:t>A context diagram is a data flow diagram that only shows the top level, otherwise known as Level 0. At this level, there is only one visible process node that represents the functions of a complete system in regards to how it interacts with external entities. Some of the benefits of a Context Diagram are:</a:t>
            </a:r>
          </a:p>
          <a:p>
            <a:pPr marL="0" indent="0">
              <a:buNone/>
            </a:pPr>
            <a:r>
              <a:rPr lang="en-US"/>
              <a:t>1.	Shows the overview of the boundaries of a system</a:t>
            </a:r>
          </a:p>
          <a:p>
            <a:pPr marL="0" indent="0">
              <a:buNone/>
            </a:pPr>
            <a:r>
              <a:rPr lang="en-US"/>
              <a:t>2.	No technical knowledge is required to understand with the simple notation</a:t>
            </a:r>
          </a:p>
          <a:p>
            <a:pPr marL="0" indent="0">
              <a:buNone/>
            </a:pPr>
            <a:r>
              <a:rPr lang="en-US"/>
              <a:t>3.	Simple to draw, amend and elaborate as its limited notation</a:t>
            </a:r>
          </a:p>
          <a:p>
            <a:pPr marL="0" indent="0">
              <a:buNone/>
            </a:pPr>
            <a:endParaRPr lang="en-US"/>
          </a:p>
        </p:txBody>
      </p:sp>
    </p:spTree>
    <p:extLst>
      <p:ext uri="{BB962C8B-B14F-4D97-AF65-F5344CB8AC3E}">
        <p14:creationId xmlns:p14="http://schemas.microsoft.com/office/powerpoint/2010/main" val="3828057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DB3C30-20F6-A298-7E88-BE720CF917BD}"/>
              </a:ext>
            </a:extLst>
          </p:cNvPr>
          <p:cNvSpPr>
            <a:spLocks noGrp="1"/>
          </p:cNvSpPr>
          <p:nvPr>
            <p:ph idx="1"/>
          </p:nvPr>
        </p:nvSpPr>
        <p:spPr>
          <a:xfrm>
            <a:off x="838200" y="390525"/>
            <a:ext cx="10515600" cy="5786438"/>
          </a:xfrm>
        </p:spPr>
        <p:txBody>
          <a:bodyPr/>
          <a:lstStyle/>
          <a:p>
            <a:pPr marL="0" marR="0">
              <a:lnSpc>
                <a:spcPct val="115000"/>
              </a:lnSpc>
              <a:spcBef>
                <a:spcPts val="0"/>
              </a:spcBef>
              <a:spcAft>
                <a:spcPts val="1000"/>
              </a:spcAft>
            </a:pPr>
            <a:r>
              <a:rPr lang="en-US" sz="2800">
                <a:effectLst/>
                <a:latin typeface="Calibri" panose="020F0502020204030204" pitchFamily="34" charset="0"/>
                <a:ea typeface="Calibri" panose="020F0502020204030204" pitchFamily="34" charset="0"/>
                <a:cs typeface="Mangal" panose="02040503050203030202" pitchFamily="18" charset="0"/>
              </a:rPr>
              <a:t>The figure below shows a context Data Flow Diagram that is drawn for a Food Ordering System. It contains a process (shape) that represents the system to model, in this case, the "</a:t>
            </a:r>
            <a:r>
              <a:rPr lang="en-US" sz="2800" i="1">
                <a:effectLst/>
                <a:latin typeface="Calibri" panose="020F0502020204030204" pitchFamily="34" charset="0"/>
                <a:ea typeface="Calibri" panose="020F0502020204030204" pitchFamily="34" charset="0"/>
                <a:cs typeface="Mangal" panose="02040503050203030202" pitchFamily="18" charset="0"/>
              </a:rPr>
              <a:t>Food Ordering System</a:t>
            </a:r>
            <a:r>
              <a:rPr lang="en-US" sz="2800">
                <a:effectLst/>
                <a:latin typeface="Calibri" panose="020F0502020204030204" pitchFamily="34" charset="0"/>
                <a:ea typeface="Calibri" panose="020F0502020204030204" pitchFamily="34" charset="0"/>
                <a:cs typeface="Mangal" panose="02040503050203030202" pitchFamily="18" charset="0"/>
              </a:rPr>
              <a:t>". It also shows the participants who will interact with the system, called the external entities. In this example, the </a:t>
            </a:r>
            <a:r>
              <a:rPr lang="en-US" sz="2800" i="1">
                <a:effectLst/>
                <a:latin typeface="Calibri" panose="020F0502020204030204" pitchFamily="34" charset="0"/>
                <a:ea typeface="Calibri" panose="020F0502020204030204" pitchFamily="34" charset="0"/>
                <a:cs typeface="Mangal" panose="02040503050203030202" pitchFamily="18" charset="0"/>
              </a:rPr>
              <a:t>Supplier</a:t>
            </a:r>
            <a:r>
              <a:rPr lang="en-US" sz="2800">
                <a:effectLst/>
                <a:latin typeface="Calibri" panose="020F0502020204030204" pitchFamily="34" charset="0"/>
                <a:ea typeface="Calibri" panose="020F0502020204030204" pitchFamily="34" charset="0"/>
                <a:cs typeface="Mangal" panose="02040503050203030202" pitchFamily="18" charset="0"/>
              </a:rPr>
              <a:t>, </a:t>
            </a:r>
            <a:r>
              <a:rPr lang="en-US" sz="2800" i="1">
                <a:effectLst/>
                <a:latin typeface="Calibri" panose="020F0502020204030204" pitchFamily="34" charset="0"/>
                <a:ea typeface="Calibri" panose="020F0502020204030204" pitchFamily="34" charset="0"/>
                <a:cs typeface="Mangal" panose="02040503050203030202" pitchFamily="18" charset="0"/>
              </a:rPr>
              <a:t>Kitchen</a:t>
            </a:r>
            <a:r>
              <a:rPr lang="en-US" sz="2800">
                <a:effectLst/>
                <a:latin typeface="Calibri" panose="020F0502020204030204" pitchFamily="34" charset="0"/>
                <a:ea typeface="Calibri" panose="020F0502020204030204" pitchFamily="34" charset="0"/>
                <a:cs typeface="Mangal" panose="02040503050203030202" pitchFamily="18" charset="0"/>
              </a:rPr>
              <a:t>, </a:t>
            </a:r>
            <a:r>
              <a:rPr lang="en-US" sz="2800" i="1">
                <a:effectLst/>
                <a:latin typeface="Calibri" panose="020F0502020204030204" pitchFamily="34" charset="0"/>
                <a:ea typeface="Calibri" panose="020F0502020204030204" pitchFamily="34" charset="0"/>
                <a:cs typeface="Mangal" panose="02040503050203030202" pitchFamily="18" charset="0"/>
              </a:rPr>
              <a:t>Manager</a:t>
            </a:r>
            <a:r>
              <a:rPr lang="en-US" sz="2800">
                <a:effectLst/>
                <a:latin typeface="Calibri" panose="020F0502020204030204" pitchFamily="34" charset="0"/>
                <a:ea typeface="Calibri" panose="020F0502020204030204" pitchFamily="34" charset="0"/>
                <a:cs typeface="Mangal" panose="02040503050203030202" pitchFamily="18" charset="0"/>
              </a:rPr>
              <a:t>, and </a:t>
            </a:r>
            <a:r>
              <a:rPr lang="en-US" sz="2800" i="1">
                <a:effectLst/>
                <a:latin typeface="Calibri" panose="020F0502020204030204" pitchFamily="34" charset="0"/>
                <a:ea typeface="Calibri" panose="020F0502020204030204" pitchFamily="34" charset="0"/>
                <a:cs typeface="Mangal" panose="02040503050203030202" pitchFamily="18" charset="0"/>
              </a:rPr>
              <a:t>Customer</a:t>
            </a:r>
            <a:r>
              <a:rPr lang="en-US" sz="2800">
                <a:effectLst/>
                <a:latin typeface="Calibri" panose="020F0502020204030204" pitchFamily="34" charset="0"/>
                <a:ea typeface="Calibri" panose="020F0502020204030204" pitchFamily="34" charset="0"/>
                <a:cs typeface="Mangal" panose="02040503050203030202" pitchFamily="18" charset="0"/>
              </a:rPr>
              <a:t> are the entities who will interact with the system. In between the process and the external entities, there is data flow (connectors) that indicate the existence of information exchange between the entities and the system.</a:t>
            </a:r>
          </a:p>
          <a:p>
            <a:pPr marL="0" marR="0">
              <a:lnSpc>
                <a:spcPct val="115000"/>
              </a:lnSpc>
              <a:spcBef>
                <a:spcPts val="0"/>
              </a:spcBef>
              <a:spcAft>
                <a:spcPts val="1000"/>
              </a:spcAft>
            </a:pPr>
            <a:endParaRPr lang="en-US" sz="240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US"/>
          </a:p>
        </p:txBody>
      </p:sp>
    </p:spTree>
    <p:extLst>
      <p:ext uri="{BB962C8B-B14F-4D97-AF65-F5344CB8AC3E}">
        <p14:creationId xmlns:p14="http://schemas.microsoft.com/office/powerpoint/2010/main" val="898990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06DF6AB-B7B3-4A03-198F-E80B230CB6E0}"/>
              </a:ext>
            </a:extLst>
          </p:cNvPr>
          <p:cNvPicPr>
            <a:picLocks noGrp="1" noChangeAspect="1"/>
          </p:cNvPicPr>
          <p:nvPr>
            <p:ph idx="1"/>
          </p:nvPr>
        </p:nvPicPr>
        <p:blipFill>
          <a:blip r:embed="rId2"/>
          <a:stretch>
            <a:fillRect/>
          </a:stretch>
        </p:blipFill>
        <p:spPr>
          <a:xfrm>
            <a:off x="697383" y="501859"/>
            <a:ext cx="11307817" cy="6203875"/>
          </a:xfrm>
          <a:prstGeom prst="rect">
            <a:avLst/>
          </a:prstGeom>
        </p:spPr>
      </p:pic>
    </p:spTree>
    <p:extLst>
      <p:ext uri="{BB962C8B-B14F-4D97-AF65-F5344CB8AC3E}">
        <p14:creationId xmlns:p14="http://schemas.microsoft.com/office/powerpoint/2010/main" val="720582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5136D2-D974-80B6-5397-7AEB5FC6F266}"/>
              </a:ext>
            </a:extLst>
          </p:cNvPr>
          <p:cNvSpPr>
            <a:spLocks noGrp="1"/>
          </p:cNvSpPr>
          <p:nvPr>
            <p:ph idx="1"/>
          </p:nvPr>
        </p:nvSpPr>
        <p:spPr>
          <a:xfrm>
            <a:off x="838200" y="304800"/>
            <a:ext cx="10515600" cy="6200775"/>
          </a:xfrm>
        </p:spPr>
        <p:txBody>
          <a:bodyPr>
            <a:normAutofit/>
          </a:bodyPr>
          <a:lstStyle/>
          <a:p>
            <a:pPr marL="0" marR="0" indent="0">
              <a:lnSpc>
                <a:spcPct val="115000"/>
              </a:lnSpc>
              <a:spcBef>
                <a:spcPts val="0"/>
              </a:spcBef>
              <a:spcAft>
                <a:spcPts val="1000"/>
              </a:spcAft>
              <a:buNone/>
            </a:pPr>
            <a:r>
              <a:rPr lang="en-US" sz="2800" b="1" u="sng">
                <a:effectLst/>
                <a:latin typeface="Calibri" panose="020F0502020204030204" pitchFamily="34" charset="0"/>
                <a:ea typeface="Calibri" panose="020F0502020204030204" pitchFamily="34" charset="0"/>
                <a:cs typeface="Mangal" panose="02040503050203030202" pitchFamily="18" charset="0"/>
              </a:rPr>
              <a:t>Level 1 DFD</a:t>
            </a:r>
            <a:endParaRPr lang="en-US" sz="2400" b="1" u="sng">
              <a:effectLst/>
              <a:latin typeface="Calibri" panose="020F0502020204030204" pitchFamily="34" charset="0"/>
              <a:ea typeface="Calibri" panose="020F0502020204030204" pitchFamily="34" charset="0"/>
              <a:cs typeface="Mangal" panose="02040503050203030202" pitchFamily="18" charset="0"/>
            </a:endParaRPr>
          </a:p>
          <a:p>
            <a:pPr marL="0" marR="0" indent="0">
              <a:lnSpc>
                <a:spcPct val="115000"/>
              </a:lnSpc>
              <a:spcBef>
                <a:spcPts val="0"/>
              </a:spcBef>
              <a:spcAft>
                <a:spcPts val="1000"/>
              </a:spcAft>
              <a:buNone/>
            </a:pPr>
            <a:r>
              <a:rPr lang="en-US" sz="2400">
                <a:latin typeface="Calibri" panose="020F0502020204030204" pitchFamily="34" charset="0"/>
                <a:cs typeface="Mangal" panose="02040503050203030202" pitchFamily="18" charset="0"/>
              </a:rPr>
              <a:t>The figure below shows the level 1 DFD, which is the decomposition (i.e. break down) of the Food Ordering System process shown in the context DFD. Read through the diagram and then we will introduce some of the key concepts based on this diagram.</a:t>
            </a:r>
          </a:p>
          <a:p>
            <a:pPr marL="0" marR="0">
              <a:lnSpc>
                <a:spcPct val="115000"/>
              </a:lnSpc>
              <a:spcBef>
                <a:spcPts val="0"/>
              </a:spcBef>
              <a:spcAft>
                <a:spcPts val="1000"/>
              </a:spcAft>
            </a:pPr>
            <a:r>
              <a:rPr lang="en-US" sz="2400">
                <a:effectLst/>
                <a:latin typeface="Calibri" panose="020F0502020204030204" pitchFamily="34" charset="0"/>
                <a:ea typeface="Calibri" panose="020F0502020204030204" pitchFamily="34" charset="0"/>
                <a:cs typeface="Mangal" panose="02040503050203030202" pitchFamily="18" charset="0"/>
              </a:rPr>
              <a:t>The Food Order System Data Flow Diagram example contains three processes, four external entities, and two data stores.</a:t>
            </a:r>
            <a:endParaRPr lang="en-US" sz="2000">
              <a:effectLst/>
              <a:latin typeface="Calibri" panose="020F0502020204030204" pitchFamily="34" charset="0"/>
              <a:ea typeface="Calibri" panose="020F0502020204030204" pitchFamily="34" charset="0"/>
              <a:cs typeface="Mangal" panose="02040503050203030202" pitchFamily="18" charset="0"/>
            </a:endParaRPr>
          </a:p>
          <a:p>
            <a:pPr marL="0" marR="0">
              <a:lnSpc>
                <a:spcPct val="115000"/>
              </a:lnSpc>
              <a:spcBef>
                <a:spcPts val="0"/>
              </a:spcBef>
              <a:spcAft>
                <a:spcPts val="1000"/>
              </a:spcAft>
            </a:pPr>
            <a:r>
              <a:rPr lang="en-US" sz="2400">
                <a:effectLst/>
                <a:latin typeface="Calibri" panose="020F0502020204030204" pitchFamily="34" charset="0"/>
                <a:ea typeface="Calibri" panose="020F0502020204030204" pitchFamily="34" charset="0"/>
                <a:cs typeface="Mangal" panose="02040503050203030202" pitchFamily="18" charset="0"/>
              </a:rPr>
              <a:t>Based on the diagram, we know that a </a:t>
            </a:r>
            <a:r>
              <a:rPr lang="en-US" sz="2400" i="1">
                <a:effectLst/>
                <a:latin typeface="Calibri" panose="020F0502020204030204" pitchFamily="34" charset="0"/>
                <a:ea typeface="Calibri" panose="020F0502020204030204" pitchFamily="34" charset="0"/>
                <a:cs typeface="Mangal" panose="02040503050203030202" pitchFamily="18" charset="0"/>
              </a:rPr>
              <a:t>Customer</a:t>
            </a:r>
            <a:r>
              <a:rPr lang="en-US" sz="2400">
                <a:effectLst/>
                <a:latin typeface="Calibri" panose="020F0502020204030204" pitchFamily="34" charset="0"/>
                <a:ea typeface="Calibri" panose="020F0502020204030204" pitchFamily="34" charset="0"/>
                <a:cs typeface="Mangal" panose="02040503050203030202" pitchFamily="18" charset="0"/>
              </a:rPr>
              <a:t> can place an </a:t>
            </a:r>
            <a:r>
              <a:rPr lang="en-US" sz="2400" i="1">
                <a:effectLst/>
                <a:latin typeface="Calibri" panose="020F0502020204030204" pitchFamily="34" charset="0"/>
                <a:ea typeface="Calibri" panose="020F0502020204030204" pitchFamily="34" charset="0"/>
                <a:cs typeface="Mangal" panose="02040503050203030202" pitchFamily="18" charset="0"/>
              </a:rPr>
              <a:t>Order</a:t>
            </a:r>
            <a:r>
              <a:rPr lang="en-US" sz="2400">
                <a:effectLst/>
                <a:latin typeface="Calibri" panose="020F0502020204030204" pitchFamily="34" charset="0"/>
                <a:ea typeface="Calibri" panose="020F0502020204030204" pitchFamily="34" charset="0"/>
                <a:cs typeface="Mangal" panose="02040503050203030202" pitchFamily="18" charset="0"/>
              </a:rPr>
              <a:t>. The </a:t>
            </a:r>
            <a:r>
              <a:rPr lang="en-US" sz="2400" i="1">
                <a:effectLst/>
                <a:latin typeface="Calibri" panose="020F0502020204030204" pitchFamily="34" charset="0"/>
                <a:ea typeface="Calibri" panose="020F0502020204030204" pitchFamily="34" charset="0"/>
                <a:cs typeface="Mangal" panose="02040503050203030202" pitchFamily="18" charset="0"/>
              </a:rPr>
              <a:t>Order Food</a:t>
            </a:r>
            <a:r>
              <a:rPr lang="en-US" sz="2400">
                <a:effectLst/>
                <a:latin typeface="Calibri" panose="020F0502020204030204" pitchFamily="34" charset="0"/>
                <a:ea typeface="Calibri" panose="020F0502020204030204" pitchFamily="34" charset="0"/>
                <a:cs typeface="Mangal" panose="02040503050203030202" pitchFamily="18" charset="0"/>
              </a:rPr>
              <a:t> process receives the </a:t>
            </a:r>
            <a:r>
              <a:rPr lang="en-US" sz="2400" i="1">
                <a:effectLst/>
                <a:latin typeface="Calibri" panose="020F0502020204030204" pitchFamily="34" charset="0"/>
                <a:ea typeface="Calibri" panose="020F0502020204030204" pitchFamily="34" charset="0"/>
                <a:cs typeface="Mangal" panose="02040503050203030202" pitchFamily="18" charset="0"/>
              </a:rPr>
              <a:t>Order</a:t>
            </a:r>
            <a:r>
              <a:rPr lang="en-US" sz="2400">
                <a:effectLst/>
                <a:latin typeface="Calibri" panose="020F0502020204030204" pitchFamily="34" charset="0"/>
                <a:ea typeface="Calibri" panose="020F0502020204030204" pitchFamily="34" charset="0"/>
                <a:cs typeface="Mangal" panose="02040503050203030202" pitchFamily="18" charset="0"/>
              </a:rPr>
              <a:t>, forwards it to the </a:t>
            </a:r>
            <a:r>
              <a:rPr lang="en-US" sz="2400" i="1">
                <a:effectLst/>
                <a:latin typeface="Calibri" panose="020F0502020204030204" pitchFamily="34" charset="0"/>
                <a:ea typeface="Calibri" panose="020F0502020204030204" pitchFamily="34" charset="0"/>
                <a:cs typeface="Mangal" panose="02040503050203030202" pitchFamily="18" charset="0"/>
              </a:rPr>
              <a:t>Kitchen</a:t>
            </a:r>
            <a:r>
              <a:rPr lang="en-US" sz="2400">
                <a:effectLst/>
                <a:latin typeface="Calibri" panose="020F0502020204030204" pitchFamily="34" charset="0"/>
                <a:ea typeface="Calibri" panose="020F0502020204030204" pitchFamily="34" charset="0"/>
                <a:cs typeface="Mangal" panose="02040503050203030202" pitchFamily="18" charset="0"/>
              </a:rPr>
              <a:t>, store it in the </a:t>
            </a:r>
            <a:r>
              <a:rPr lang="en-US" sz="2400" i="1">
                <a:effectLst/>
                <a:latin typeface="Calibri" panose="020F0502020204030204" pitchFamily="34" charset="0"/>
                <a:ea typeface="Calibri" panose="020F0502020204030204" pitchFamily="34" charset="0"/>
                <a:cs typeface="Mangal" panose="02040503050203030202" pitchFamily="18" charset="0"/>
              </a:rPr>
              <a:t>Order</a:t>
            </a:r>
            <a:r>
              <a:rPr lang="en-US" sz="2400">
                <a:effectLst/>
                <a:latin typeface="Calibri" panose="020F0502020204030204" pitchFamily="34" charset="0"/>
                <a:ea typeface="Calibri" panose="020F0502020204030204" pitchFamily="34" charset="0"/>
                <a:cs typeface="Mangal" panose="02040503050203030202" pitchFamily="18" charset="0"/>
              </a:rPr>
              <a:t> data store, and store the updated </a:t>
            </a:r>
            <a:r>
              <a:rPr lang="en-US" sz="2400" i="1">
                <a:effectLst/>
                <a:latin typeface="Calibri" panose="020F0502020204030204" pitchFamily="34" charset="0"/>
                <a:ea typeface="Calibri" panose="020F0502020204030204" pitchFamily="34" charset="0"/>
                <a:cs typeface="Mangal" panose="02040503050203030202" pitchFamily="18" charset="0"/>
              </a:rPr>
              <a:t>Inventory details</a:t>
            </a:r>
            <a:r>
              <a:rPr lang="en-US" sz="2400">
                <a:effectLst/>
                <a:latin typeface="Calibri" panose="020F0502020204030204" pitchFamily="34" charset="0"/>
                <a:ea typeface="Calibri" panose="020F0502020204030204" pitchFamily="34" charset="0"/>
                <a:cs typeface="Mangal" panose="02040503050203030202" pitchFamily="18" charset="0"/>
              </a:rPr>
              <a:t> in the </a:t>
            </a:r>
            <a:r>
              <a:rPr lang="en-US" sz="2400" i="1">
                <a:effectLst/>
                <a:latin typeface="Calibri" panose="020F0502020204030204" pitchFamily="34" charset="0"/>
                <a:ea typeface="Calibri" panose="020F0502020204030204" pitchFamily="34" charset="0"/>
                <a:cs typeface="Mangal" panose="02040503050203030202" pitchFamily="18" charset="0"/>
              </a:rPr>
              <a:t>Inventory</a:t>
            </a:r>
            <a:r>
              <a:rPr lang="en-US" sz="2400">
                <a:effectLst/>
                <a:latin typeface="Calibri" panose="020F0502020204030204" pitchFamily="34" charset="0"/>
                <a:ea typeface="Calibri" panose="020F0502020204030204" pitchFamily="34" charset="0"/>
                <a:cs typeface="Mangal" panose="02040503050203030202" pitchFamily="18" charset="0"/>
              </a:rPr>
              <a:t> data store. The process also delivers a </a:t>
            </a:r>
            <a:r>
              <a:rPr lang="en-US" sz="2400" i="1">
                <a:effectLst/>
                <a:latin typeface="Calibri" panose="020F0502020204030204" pitchFamily="34" charset="0"/>
                <a:ea typeface="Calibri" panose="020F0502020204030204" pitchFamily="34" charset="0"/>
                <a:cs typeface="Mangal" panose="02040503050203030202" pitchFamily="18" charset="0"/>
              </a:rPr>
              <a:t>Bill</a:t>
            </a:r>
            <a:r>
              <a:rPr lang="en-US" sz="2400">
                <a:effectLst/>
                <a:latin typeface="Calibri" panose="020F0502020204030204" pitchFamily="34" charset="0"/>
                <a:ea typeface="Calibri" panose="020F0502020204030204" pitchFamily="34" charset="0"/>
                <a:cs typeface="Mangal" panose="02040503050203030202" pitchFamily="18" charset="0"/>
              </a:rPr>
              <a:t> to the </a:t>
            </a:r>
            <a:r>
              <a:rPr lang="en-US" sz="2400" i="1">
                <a:effectLst/>
                <a:latin typeface="Calibri" panose="020F0502020204030204" pitchFamily="34" charset="0"/>
                <a:ea typeface="Calibri" panose="020F0502020204030204" pitchFamily="34" charset="0"/>
                <a:cs typeface="Mangal" panose="02040503050203030202" pitchFamily="18" charset="0"/>
              </a:rPr>
              <a:t>Customer</a:t>
            </a:r>
            <a:r>
              <a:rPr lang="en-US" sz="2400">
                <a:effectLst/>
                <a:latin typeface="Calibri" panose="020F0502020204030204" pitchFamily="34" charset="0"/>
                <a:ea typeface="Calibri" panose="020F0502020204030204" pitchFamily="34" charset="0"/>
                <a:cs typeface="Mangal" panose="02040503050203030202" pitchFamily="18" charset="0"/>
              </a:rPr>
              <a:t>.</a:t>
            </a:r>
            <a:endParaRPr lang="en-US" sz="2000">
              <a:effectLst/>
              <a:latin typeface="Calibri" panose="020F0502020204030204" pitchFamily="34" charset="0"/>
              <a:ea typeface="Calibri" panose="020F0502020204030204" pitchFamily="34" charset="0"/>
              <a:cs typeface="Mangal" panose="02040503050203030202" pitchFamily="18" charset="0"/>
            </a:endParaRPr>
          </a:p>
          <a:p>
            <a:pPr marL="0" marR="0" indent="0">
              <a:lnSpc>
                <a:spcPct val="115000"/>
              </a:lnSpc>
              <a:spcBef>
                <a:spcPts val="0"/>
              </a:spcBef>
              <a:spcAft>
                <a:spcPts val="1000"/>
              </a:spcAft>
              <a:buNone/>
            </a:pPr>
            <a:endParaRPr lang="en-US" sz="240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US"/>
          </a:p>
        </p:txBody>
      </p:sp>
    </p:spTree>
    <p:extLst>
      <p:ext uri="{BB962C8B-B14F-4D97-AF65-F5344CB8AC3E}">
        <p14:creationId xmlns:p14="http://schemas.microsoft.com/office/powerpoint/2010/main" val="570723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62EB8DC-56E2-9996-FB0D-A17B50EBCF91}"/>
              </a:ext>
            </a:extLst>
          </p:cNvPr>
          <p:cNvPicPr>
            <a:picLocks noGrp="1" noChangeAspect="1"/>
          </p:cNvPicPr>
          <p:nvPr>
            <p:ph idx="1"/>
          </p:nvPr>
        </p:nvPicPr>
        <p:blipFill>
          <a:blip r:embed="rId2"/>
          <a:stretch>
            <a:fillRect/>
          </a:stretch>
        </p:blipFill>
        <p:spPr>
          <a:xfrm>
            <a:off x="1933574" y="916970"/>
            <a:ext cx="8023225" cy="5270470"/>
          </a:xfrm>
          <a:prstGeom prst="rect">
            <a:avLst/>
          </a:prstGeom>
        </p:spPr>
      </p:pic>
    </p:spTree>
    <p:extLst>
      <p:ext uri="{BB962C8B-B14F-4D97-AF65-F5344CB8AC3E}">
        <p14:creationId xmlns:p14="http://schemas.microsoft.com/office/powerpoint/2010/main" val="2020579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E45F31-BA74-B7B2-54D8-E3EBF49287E8}"/>
              </a:ext>
            </a:extLst>
          </p:cNvPr>
          <p:cNvSpPr>
            <a:spLocks noGrp="1"/>
          </p:cNvSpPr>
          <p:nvPr>
            <p:ph idx="1"/>
          </p:nvPr>
        </p:nvSpPr>
        <p:spPr>
          <a:xfrm>
            <a:off x="838200" y="114300"/>
            <a:ext cx="10515600" cy="6062663"/>
          </a:xfrm>
        </p:spPr>
        <p:txBody>
          <a:bodyPr/>
          <a:lstStyle/>
          <a:p>
            <a:pPr marL="0" marR="0">
              <a:lnSpc>
                <a:spcPct val="115000"/>
              </a:lnSpc>
              <a:spcBef>
                <a:spcPts val="0"/>
              </a:spcBef>
              <a:spcAft>
                <a:spcPts val="1000"/>
              </a:spcAft>
            </a:pPr>
            <a:r>
              <a:rPr lang="en-US" sz="2800">
                <a:effectLst/>
                <a:latin typeface="Calibri" panose="020F0502020204030204" pitchFamily="34" charset="0"/>
                <a:ea typeface="Calibri" panose="020F0502020204030204" pitchFamily="34" charset="0"/>
                <a:cs typeface="Mangal" panose="02040503050203030202" pitchFamily="18" charset="0"/>
              </a:rPr>
              <a:t>The </a:t>
            </a:r>
            <a:r>
              <a:rPr lang="en-US" sz="2800" i="1">
                <a:effectLst/>
                <a:latin typeface="Calibri" panose="020F0502020204030204" pitchFamily="34" charset="0"/>
                <a:ea typeface="Calibri" panose="020F0502020204030204" pitchFamily="34" charset="0"/>
                <a:cs typeface="Mangal" panose="02040503050203030202" pitchFamily="18" charset="0"/>
              </a:rPr>
              <a:t>Manager</a:t>
            </a:r>
            <a:r>
              <a:rPr lang="en-US" sz="2800">
                <a:effectLst/>
                <a:latin typeface="Calibri" panose="020F0502020204030204" pitchFamily="34" charset="0"/>
                <a:ea typeface="Calibri" panose="020F0502020204030204" pitchFamily="34" charset="0"/>
                <a:cs typeface="Mangal" panose="02040503050203030202" pitchFamily="18" charset="0"/>
              </a:rPr>
              <a:t> can receive </a:t>
            </a:r>
            <a:r>
              <a:rPr lang="en-US" sz="2800" i="1">
                <a:effectLst/>
                <a:latin typeface="Calibri" panose="020F0502020204030204" pitchFamily="34" charset="0"/>
                <a:ea typeface="Calibri" panose="020F0502020204030204" pitchFamily="34" charset="0"/>
                <a:cs typeface="Mangal" panose="02040503050203030202" pitchFamily="18" charset="0"/>
              </a:rPr>
              <a:t>Reports</a:t>
            </a:r>
            <a:r>
              <a:rPr lang="en-US" sz="2800">
                <a:effectLst/>
                <a:latin typeface="Calibri" panose="020F0502020204030204" pitchFamily="34" charset="0"/>
                <a:ea typeface="Calibri" panose="020F0502020204030204" pitchFamily="34" charset="0"/>
                <a:cs typeface="Mangal" panose="02040503050203030202" pitchFamily="18" charset="0"/>
              </a:rPr>
              <a:t> through the </a:t>
            </a:r>
            <a:r>
              <a:rPr lang="en-US" sz="2800" i="1">
                <a:effectLst/>
                <a:latin typeface="Calibri" panose="020F0502020204030204" pitchFamily="34" charset="0"/>
                <a:ea typeface="Calibri" panose="020F0502020204030204" pitchFamily="34" charset="0"/>
                <a:cs typeface="Mangal" panose="02040503050203030202" pitchFamily="18" charset="0"/>
              </a:rPr>
              <a:t>Generate Reports</a:t>
            </a:r>
            <a:r>
              <a:rPr lang="en-US" sz="2800">
                <a:effectLst/>
                <a:latin typeface="Calibri" panose="020F0502020204030204" pitchFamily="34" charset="0"/>
                <a:ea typeface="Calibri" panose="020F0502020204030204" pitchFamily="34" charset="0"/>
                <a:cs typeface="Mangal" panose="02040503050203030202" pitchFamily="18" charset="0"/>
              </a:rPr>
              <a:t> process, which takes </a:t>
            </a:r>
            <a:r>
              <a:rPr lang="en-US" sz="2800" i="1">
                <a:effectLst/>
                <a:latin typeface="Calibri" panose="020F0502020204030204" pitchFamily="34" charset="0"/>
                <a:ea typeface="Calibri" panose="020F0502020204030204" pitchFamily="34" charset="0"/>
                <a:cs typeface="Mangal" panose="02040503050203030202" pitchFamily="18" charset="0"/>
              </a:rPr>
              <a:t>Inventory details</a:t>
            </a:r>
            <a:r>
              <a:rPr lang="en-US" sz="2800">
                <a:effectLst/>
                <a:latin typeface="Calibri" panose="020F0502020204030204" pitchFamily="34" charset="0"/>
                <a:ea typeface="Calibri" panose="020F0502020204030204" pitchFamily="34" charset="0"/>
                <a:cs typeface="Mangal" panose="02040503050203030202" pitchFamily="18" charset="0"/>
              </a:rPr>
              <a:t> and </a:t>
            </a:r>
            <a:r>
              <a:rPr lang="en-US" sz="2800" i="1">
                <a:effectLst/>
                <a:latin typeface="Calibri" panose="020F0502020204030204" pitchFamily="34" charset="0"/>
                <a:ea typeface="Calibri" panose="020F0502020204030204" pitchFamily="34" charset="0"/>
                <a:cs typeface="Mangal" panose="02040503050203030202" pitchFamily="18" charset="0"/>
              </a:rPr>
              <a:t>Orders</a:t>
            </a:r>
            <a:r>
              <a:rPr lang="en-US" sz="2800">
                <a:effectLst/>
                <a:latin typeface="Calibri" panose="020F0502020204030204" pitchFamily="34" charset="0"/>
                <a:ea typeface="Calibri" panose="020F0502020204030204" pitchFamily="34" charset="0"/>
                <a:cs typeface="Mangal" panose="02040503050203030202" pitchFamily="18" charset="0"/>
              </a:rPr>
              <a:t> as input from the </a:t>
            </a:r>
            <a:r>
              <a:rPr lang="en-US" sz="2800" i="1">
                <a:effectLst/>
                <a:latin typeface="Calibri" panose="020F0502020204030204" pitchFamily="34" charset="0"/>
                <a:ea typeface="Calibri" panose="020F0502020204030204" pitchFamily="34" charset="0"/>
                <a:cs typeface="Mangal" panose="02040503050203030202" pitchFamily="18" charset="0"/>
              </a:rPr>
              <a:t>Inventory</a:t>
            </a:r>
            <a:r>
              <a:rPr lang="en-US" sz="2800">
                <a:effectLst/>
                <a:latin typeface="Calibri" panose="020F0502020204030204" pitchFamily="34" charset="0"/>
                <a:ea typeface="Calibri" panose="020F0502020204030204" pitchFamily="34" charset="0"/>
                <a:cs typeface="Mangal" panose="02040503050203030202" pitchFamily="18" charset="0"/>
              </a:rPr>
              <a:t> and </a:t>
            </a:r>
            <a:r>
              <a:rPr lang="en-US" sz="2800" i="1">
                <a:effectLst/>
                <a:latin typeface="Calibri" panose="020F0502020204030204" pitchFamily="34" charset="0"/>
                <a:ea typeface="Calibri" panose="020F0502020204030204" pitchFamily="34" charset="0"/>
                <a:cs typeface="Mangal" panose="02040503050203030202" pitchFamily="18" charset="0"/>
              </a:rPr>
              <a:t>Order</a:t>
            </a:r>
            <a:r>
              <a:rPr lang="en-US" sz="2800">
                <a:effectLst/>
                <a:latin typeface="Calibri" panose="020F0502020204030204" pitchFamily="34" charset="0"/>
                <a:ea typeface="Calibri" panose="020F0502020204030204" pitchFamily="34" charset="0"/>
                <a:cs typeface="Mangal" panose="02040503050203030202" pitchFamily="18" charset="0"/>
              </a:rPr>
              <a:t> data store respectively.</a:t>
            </a:r>
            <a:endParaRPr lang="en-US" sz="2400">
              <a:effectLst/>
              <a:latin typeface="Calibri" panose="020F0502020204030204" pitchFamily="34" charset="0"/>
              <a:ea typeface="Calibri" panose="020F0502020204030204" pitchFamily="34" charset="0"/>
              <a:cs typeface="Mangal" panose="02040503050203030202" pitchFamily="18" charset="0"/>
            </a:endParaRPr>
          </a:p>
          <a:p>
            <a:pPr marL="0" marR="0">
              <a:lnSpc>
                <a:spcPct val="115000"/>
              </a:lnSpc>
              <a:spcBef>
                <a:spcPts val="0"/>
              </a:spcBef>
              <a:spcAft>
                <a:spcPts val="1000"/>
              </a:spcAft>
            </a:pPr>
            <a:r>
              <a:rPr lang="en-US" sz="2800">
                <a:effectLst/>
                <a:latin typeface="Calibri" panose="020F0502020204030204" pitchFamily="34" charset="0"/>
                <a:ea typeface="Calibri" panose="020F0502020204030204" pitchFamily="34" charset="0"/>
                <a:cs typeface="Mangal" panose="02040503050203030202" pitchFamily="18" charset="0"/>
              </a:rPr>
              <a:t>The </a:t>
            </a:r>
            <a:r>
              <a:rPr lang="en-US" sz="2800" i="1">
                <a:effectLst/>
                <a:latin typeface="Calibri" panose="020F0502020204030204" pitchFamily="34" charset="0"/>
                <a:ea typeface="Calibri" panose="020F0502020204030204" pitchFamily="34" charset="0"/>
                <a:cs typeface="Mangal" panose="02040503050203030202" pitchFamily="18" charset="0"/>
              </a:rPr>
              <a:t>Manager</a:t>
            </a:r>
            <a:r>
              <a:rPr lang="en-US" sz="2800">
                <a:effectLst/>
                <a:latin typeface="Calibri" panose="020F0502020204030204" pitchFamily="34" charset="0"/>
                <a:ea typeface="Calibri" panose="020F0502020204030204" pitchFamily="34" charset="0"/>
                <a:cs typeface="Mangal" panose="02040503050203030202" pitchFamily="18" charset="0"/>
              </a:rPr>
              <a:t> can also initiate the </a:t>
            </a:r>
            <a:r>
              <a:rPr lang="en-US" sz="2800" i="1">
                <a:effectLst/>
                <a:latin typeface="Calibri" panose="020F0502020204030204" pitchFamily="34" charset="0"/>
                <a:ea typeface="Calibri" panose="020F0502020204030204" pitchFamily="34" charset="0"/>
                <a:cs typeface="Mangal" panose="02040503050203030202" pitchFamily="18" charset="0"/>
              </a:rPr>
              <a:t>Order Inventory</a:t>
            </a:r>
            <a:r>
              <a:rPr lang="en-US" sz="2800">
                <a:effectLst/>
                <a:latin typeface="Calibri" panose="020F0502020204030204" pitchFamily="34" charset="0"/>
                <a:ea typeface="Calibri" panose="020F0502020204030204" pitchFamily="34" charset="0"/>
                <a:cs typeface="Mangal" panose="02040503050203030202" pitchFamily="18" charset="0"/>
              </a:rPr>
              <a:t> process by providing </a:t>
            </a:r>
            <a:r>
              <a:rPr lang="en-US" sz="2800" i="1">
                <a:effectLst/>
                <a:latin typeface="Calibri" panose="020F0502020204030204" pitchFamily="34" charset="0"/>
                <a:ea typeface="Calibri" panose="020F0502020204030204" pitchFamily="34" charset="0"/>
                <a:cs typeface="Mangal" panose="02040503050203030202" pitchFamily="18" charset="0"/>
              </a:rPr>
              <a:t>Inventory order</a:t>
            </a:r>
            <a:r>
              <a:rPr lang="en-US" sz="2800">
                <a:effectLst/>
                <a:latin typeface="Calibri" panose="020F0502020204030204" pitchFamily="34" charset="0"/>
                <a:ea typeface="Calibri" panose="020F0502020204030204" pitchFamily="34" charset="0"/>
                <a:cs typeface="Mangal" panose="02040503050203030202" pitchFamily="18" charset="0"/>
              </a:rPr>
              <a:t>. The process forwards the </a:t>
            </a:r>
            <a:r>
              <a:rPr lang="en-US" sz="2800" i="1">
                <a:effectLst/>
                <a:latin typeface="Calibri" panose="020F0502020204030204" pitchFamily="34" charset="0"/>
                <a:ea typeface="Calibri" panose="020F0502020204030204" pitchFamily="34" charset="0"/>
                <a:cs typeface="Mangal" panose="02040503050203030202" pitchFamily="18" charset="0"/>
              </a:rPr>
              <a:t>Inventory order</a:t>
            </a:r>
            <a:r>
              <a:rPr lang="en-US" sz="2800">
                <a:effectLst/>
                <a:latin typeface="Calibri" panose="020F0502020204030204" pitchFamily="34" charset="0"/>
                <a:ea typeface="Calibri" panose="020F0502020204030204" pitchFamily="34" charset="0"/>
                <a:cs typeface="Mangal" panose="02040503050203030202" pitchFamily="18" charset="0"/>
              </a:rPr>
              <a:t> to the </a:t>
            </a:r>
            <a:r>
              <a:rPr lang="en-US" sz="2800" i="1">
                <a:effectLst/>
                <a:latin typeface="Calibri" panose="020F0502020204030204" pitchFamily="34" charset="0"/>
                <a:ea typeface="Calibri" panose="020F0502020204030204" pitchFamily="34" charset="0"/>
                <a:cs typeface="Mangal" panose="02040503050203030202" pitchFamily="18" charset="0"/>
              </a:rPr>
              <a:t>Supplier</a:t>
            </a:r>
            <a:r>
              <a:rPr lang="en-US" sz="2800">
                <a:effectLst/>
                <a:latin typeface="Calibri" panose="020F0502020204030204" pitchFamily="34" charset="0"/>
                <a:ea typeface="Calibri" panose="020F0502020204030204" pitchFamily="34" charset="0"/>
                <a:cs typeface="Mangal" panose="02040503050203030202" pitchFamily="18" charset="0"/>
              </a:rPr>
              <a:t> and stores the updated </a:t>
            </a:r>
            <a:r>
              <a:rPr lang="en-US" sz="2800" i="1">
                <a:effectLst/>
                <a:latin typeface="Calibri" panose="020F0502020204030204" pitchFamily="34" charset="0"/>
                <a:ea typeface="Calibri" panose="020F0502020204030204" pitchFamily="34" charset="0"/>
                <a:cs typeface="Mangal" panose="02040503050203030202" pitchFamily="18" charset="0"/>
              </a:rPr>
              <a:t>Inventory details</a:t>
            </a:r>
            <a:r>
              <a:rPr lang="en-US" sz="2800">
                <a:effectLst/>
                <a:latin typeface="Calibri" panose="020F0502020204030204" pitchFamily="34" charset="0"/>
                <a:ea typeface="Calibri" panose="020F0502020204030204" pitchFamily="34" charset="0"/>
                <a:cs typeface="Mangal" panose="02040503050203030202" pitchFamily="18" charset="0"/>
              </a:rPr>
              <a:t> in the </a:t>
            </a:r>
            <a:r>
              <a:rPr lang="en-US" sz="2800" i="1">
                <a:effectLst/>
                <a:latin typeface="Calibri" panose="020F0502020204030204" pitchFamily="34" charset="0"/>
                <a:ea typeface="Calibri" panose="020F0502020204030204" pitchFamily="34" charset="0"/>
                <a:cs typeface="Mangal" panose="02040503050203030202" pitchFamily="18" charset="0"/>
              </a:rPr>
              <a:t>Inventory</a:t>
            </a:r>
            <a:r>
              <a:rPr lang="en-US" sz="2800">
                <a:effectLst/>
                <a:latin typeface="Calibri" panose="020F0502020204030204" pitchFamily="34" charset="0"/>
                <a:ea typeface="Calibri" panose="020F0502020204030204" pitchFamily="34" charset="0"/>
                <a:cs typeface="Mangal" panose="02040503050203030202" pitchFamily="18" charset="0"/>
              </a:rPr>
              <a:t> data store.</a:t>
            </a:r>
            <a:endParaRPr lang="en-US" sz="240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US"/>
          </a:p>
        </p:txBody>
      </p:sp>
    </p:spTree>
    <p:extLst>
      <p:ext uri="{BB962C8B-B14F-4D97-AF65-F5344CB8AC3E}">
        <p14:creationId xmlns:p14="http://schemas.microsoft.com/office/powerpoint/2010/main" val="3424844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Has_Teacher_Only_SectionGroup xmlns="9eec715b-37f0-4982-b472-0dba3cec3acd" xsi:nil="true"/>
    <FolderType xmlns="9eec715b-37f0-4982-b472-0dba3cec3acd" xsi:nil="true"/>
    <AppVersion xmlns="9eec715b-37f0-4982-b472-0dba3cec3acd" xsi:nil="true"/>
    <MigrationWizIdVersion xmlns="9eec715b-37f0-4982-b472-0dba3cec3acd" xsi:nil="true"/>
    <CultureName xmlns="9eec715b-37f0-4982-b472-0dba3cec3acd" xsi:nil="true"/>
    <Owner xmlns="9eec715b-37f0-4982-b472-0dba3cec3acd">
      <UserInfo>
        <DisplayName/>
        <AccountId xsi:nil="true"/>
        <AccountType/>
      </UserInfo>
    </Owner>
    <MigrationWizId xmlns="9eec715b-37f0-4982-b472-0dba3cec3acd" xsi:nil="true"/>
    <NotebookType xmlns="9eec715b-37f0-4982-b472-0dba3cec3acd" xsi:nil="true"/>
    <MigrationWizIdPermissions xmlns="9eec715b-37f0-4982-b472-0dba3cec3acd" xsi:nil="true"/>
    <Invited_Teachers xmlns="9eec715b-37f0-4982-b472-0dba3cec3acd" xsi:nil="true"/>
    <Is_Collaboration_Space_Locked xmlns="9eec715b-37f0-4982-b472-0dba3cec3acd" xsi:nil="true"/>
    <Teachers xmlns="9eec715b-37f0-4982-b472-0dba3cec3acd">
      <UserInfo>
        <DisplayName/>
        <AccountId xsi:nil="true"/>
        <AccountType/>
      </UserInfo>
    </Teachers>
    <Students xmlns="9eec715b-37f0-4982-b472-0dba3cec3acd">
      <UserInfo>
        <DisplayName/>
        <AccountId xsi:nil="true"/>
        <AccountType/>
      </UserInfo>
    </Students>
    <Student_Groups xmlns="9eec715b-37f0-4982-b472-0dba3cec3acd">
      <UserInfo>
        <DisplayName/>
        <AccountId xsi:nil="true"/>
        <AccountType/>
      </UserInfo>
    </Student_Groups>
    <LMS_Mappings xmlns="9eec715b-37f0-4982-b472-0dba3cec3acd" xsi:nil="true"/>
    <DefaultSectionNames xmlns="9eec715b-37f0-4982-b472-0dba3cec3acd" xsi:nil="true"/>
    <Teams_Channel_Section_Location xmlns="9eec715b-37f0-4982-b472-0dba3cec3acd" xsi:nil="true"/>
    <Math_Settings xmlns="9eec715b-37f0-4982-b472-0dba3cec3acd" xsi:nil="true"/>
    <Templates xmlns="9eec715b-37f0-4982-b472-0dba3cec3acd" xsi:nil="true"/>
    <Self_Registration_Enabled xmlns="9eec715b-37f0-4982-b472-0dba3cec3acd" xsi:nil="true"/>
    <Distribution_Groups xmlns="9eec715b-37f0-4982-b472-0dba3cec3acd" xsi:nil="true"/>
    <TeamsChannelId xmlns="9eec715b-37f0-4982-b472-0dba3cec3acd" xsi:nil="true"/>
    <Invited_Students xmlns="9eec715b-37f0-4982-b472-0dba3cec3acd" xsi:nil="true"/>
    <IsNotebookLocked xmlns="9eec715b-37f0-4982-b472-0dba3cec3acd" xsi:nil="true"/>
    <_activity xmlns="9eec715b-37f0-4982-b472-0dba3cec3ac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F9A2088A52B0C4EA8BDD03B81234123" ma:contentTypeVersion="27" ma:contentTypeDescription="Create a new document." ma:contentTypeScope="" ma:versionID="92d5195fb5007334c09f013de50af3bd">
  <xsd:schema xmlns:xsd="http://www.w3.org/2001/XMLSchema" xmlns:xs="http://www.w3.org/2001/XMLSchema" xmlns:p="http://schemas.microsoft.com/office/2006/metadata/properties" xmlns:ns3="9eec715b-37f0-4982-b472-0dba3cec3acd" targetNamespace="http://schemas.microsoft.com/office/2006/metadata/properties" ma:root="true" ma:fieldsID="a112a78107b58ffab0d67e2dda156c46" ns3:_="">
    <xsd:import namespace="9eec715b-37f0-4982-b472-0dba3cec3acd"/>
    <xsd:element name="properties">
      <xsd:complexType>
        <xsd:sequence>
          <xsd:element name="documentManagement">
            <xsd:complexType>
              <xsd:all>
                <xsd:element ref="ns3:MigrationWizId" minOccurs="0"/>
                <xsd:element ref="ns3:MigrationWizIdPermissions" minOccurs="0"/>
                <xsd:element ref="ns3:MigrationWizIdVersion"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3:Teams_Channel_Section_Location" minOccurs="0"/>
                <xsd:element ref="ns3:MediaServiceMetadata" minOccurs="0"/>
                <xsd:element ref="ns3:MediaServiceFastMetadata"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ec715b-37f0-4982-b472-0dba3cec3acd"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NotebookType" ma:index="11" nillable="true" ma:displayName="Notebook Type" ma:internalName="NotebookType" ma:readOnly="false">
      <xsd:simpleType>
        <xsd:restriction base="dms:Text">
          <xsd:maxLength value="255"/>
        </xsd:restriction>
      </xsd:simpleType>
    </xsd:element>
    <xsd:element name="FolderType" ma:index="12" nillable="true" ma:displayName="Folder Type" ma:internalName="FolderType" ma:readOnly="false">
      <xsd:simpleType>
        <xsd:restriction base="dms:Text">
          <xsd:maxLength value="255"/>
        </xsd:restriction>
      </xsd:simpleType>
    </xsd:element>
    <xsd:element name="CultureName" ma:index="13" nillable="true" ma:displayName="Culture Name" ma:internalName="CultureName" ma:readOnly="false">
      <xsd:simpleType>
        <xsd:restriction base="dms:Text">
          <xsd:maxLength value="255"/>
        </xsd:restriction>
      </xsd:simpleType>
    </xsd:element>
    <xsd:element name="AppVersion" ma:index="14" nillable="true" ma:displayName="App Version" ma:internalName="AppVersion" ma:readOnly="false">
      <xsd:simpleType>
        <xsd:restriction base="dms:Text">
          <xsd:maxLength value="255"/>
        </xsd:restriction>
      </xsd:simpleType>
    </xsd:element>
    <xsd:element name="TeamsChannelId" ma:index="15" nillable="true" ma:displayName="Teams Channel Id" ma:internalName="TeamsChannelId" ma:readOnly="false">
      <xsd:simpleType>
        <xsd:restriction base="dms:Text">
          <xsd:maxLength value="255"/>
        </xsd:restriction>
      </xsd:simpleType>
    </xsd:element>
    <xsd:element name="Owner" ma:index="16" nillable="true" ma:displayName="Owner" ma:list="UserInfo" ma:SearchPeopleOnly="false" ma:internalName="Owne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7" nillable="true" ma:displayName="Math Settings" ma:internalName="Math_Settings" ma:readOnly="false">
      <xsd:simpleType>
        <xsd:restriction base="dms:Text">
          <xsd:maxLength value="255"/>
        </xsd:restriction>
      </xsd:simpleType>
    </xsd:element>
    <xsd:element name="DefaultSectionNames" ma:index="18" nillable="true" ma:displayName="Default Section Names" ma:internalName="DefaultSectionNames" ma:readOnly="false">
      <xsd:simpleType>
        <xsd:restriction base="dms:Note">
          <xsd:maxLength value="255"/>
        </xsd:restriction>
      </xsd:simpleType>
    </xsd:element>
    <xsd:element name="Templates" ma:index="19" nillable="true" ma:displayName="Templates" ma:internalName="Templates" ma:readOnly="false">
      <xsd:simpleType>
        <xsd:restriction base="dms:Note">
          <xsd:maxLength value="255"/>
        </xsd:restriction>
      </xsd:simpleType>
    </xsd:element>
    <xsd:element name="Teachers" ma:index="20" nillable="true" ma:displayName="Teachers" ma:list="UserInfo" ma:SearchPeopleOnly="false" ma:internalName="Teachers"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1" nillable="true" ma:displayName="Students" ma:list="UserInfo" ma:SearchPeopleOnly="false" ma:internalName="Students"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2" nillable="true" ma:displayName="Student Groups" ma:list="UserInfo" ma:SearchPeopleOnly="false" ma:internalName="Student_Groups"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3" nillable="true" ma:displayName="Distribution Groups" ma:internalName="Distribution_Groups" ma:readOnly="false">
      <xsd:simpleType>
        <xsd:restriction base="dms:Note">
          <xsd:maxLength value="255"/>
        </xsd:restriction>
      </xsd:simpleType>
    </xsd:element>
    <xsd:element name="LMS_Mappings" ma:index="24" nillable="true" ma:displayName="LMS Mappings" ma:internalName="LMS_Mappings" ma:readOnly="false">
      <xsd:simpleType>
        <xsd:restriction base="dms:Note">
          <xsd:maxLength value="255"/>
        </xsd:restriction>
      </xsd:simpleType>
    </xsd:element>
    <xsd:element name="Invited_Teachers" ma:index="25" nillable="true" ma:displayName="Invited Teachers" ma:internalName="Invited_Teachers" ma:readOnly="false">
      <xsd:simpleType>
        <xsd:restriction base="dms:Note">
          <xsd:maxLength value="255"/>
        </xsd:restriction>
      </xsd:simpleType>
    </xsd:element>
    <xsd:element name="Invited_Students" ma:index="26" nillable="true" ma:displayName="Invited Students" ma:internalName="Invited_Students" ma:readOnly="false">
      <xsd:simpleType>
        <xsd:restriction base="dms:Note">
          <xsd:maxLength value="255"/>
        </xsd:restriction>
      </xsd:simpleType>
    </xsd:element>
    <xsd:element name="Self_Registration_Enabled" ma:index="27" nillable="true" ma:displayName="Self Registration Enabled" ma:internalName="Self_Registration_Enabled" ma:readOnly="false">
      <xsd:simpleType>
        <xsd:restriction base="dms:Boolean"/>
      </xsd:simpleType>
    </xsd:element>
    <xsd:element name="Has_Teacher_Only_SectionGroup" ma:index="28" nillable="true" ma:displayName="Has Teacher Only SectionGroup" ma:internalName="Has_Teacher_Only_SectionGroup" ma:readOnly="false">
      <xsd:simpleType>
        <xsd:restriction base="dms:Boolean"/>
      </xsd:simpleType>
    </xsd:element>
    <xsd:element name="Is_Collaboration_Space_Locked" ma:index="29" nillable="true" ma:displayName="Is Collaboration Space Locked" ma:internalName="Is_Collaboration_Space_Locked" ma:readOnly="false">
      <xsd:simpleType>
        <xsd:restriction base="dms:Boolean"/>
      </xsd:simpleType>
    </xsd:element>
    <xsd:element name="IsNotebookLocked" ma:index="30" nillable="true" ma:displayName="Is Notebook Locked" ma:internalName="IsNotebookLocked" ma:readOnly="false">
      <xsd:simpleType>
        <xsd:restriction base="dms:Boolean"/>
      </xsd:simpleType>
    </xsd:element>
    <xsd:element name="Teams_Channel_Section_Location" ma:index="31" nillable="true" ma:displayName="Teams Channel Section Location" ma:internalName="Teams_Channel_Section_Location" ma:readOnly="false">
      <xsd:simpleType>
        <xsd:restriction base="dms:Text">
          <xsd:maxLength value="255"/>
        </xsd:restriction>
      </xsd:simpleType>
    </xsd:element>
    <xsd:element name="MediaServiceMetadata" ma:index="32" nillable="true" ma:displayName="MediaServiceMetadata" ma:hidden="true" ma:internalName="MediaServiceMetadata" ma:readOnly="true">
      <xsd:simpleType>
        <xsd:restriction base="dms:Note"/>
      </xsd:simpleType>
    </xsd:element>
    <xsd:element name="MediaServiceFastMetadata" ma:index="33" nillable="true" ma:displayName="MediaServiceFastMetadata" ma:hidden="true" ma:internalName="MediaServiceFastMetadata" ma:readOnly="true">
      <xsd:simpleType>
        <xsd:restriction base="dms:Note"/>
      </xsd:simpleType>
    </xsd:element>
    <xsd:element name="_activity" ma:index="34" nillable="true" ma:displayName="_activity" ma:hidden="true" ma:internalName="_activity" ma:readOnly="fals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F9F5F1-7EF1-4D1A-839D-A5395F64493D}">
  <ds:schemaRefs>
    <ds:schemaRef ds:uri="9eec715b-37f0-4982-b472-0dba3cec3a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EA977B6-8F9F-4B1D-9F34-FA952591906D}">
  <ds:schemaRefs>
    <ds:schemaRef ds:uri="9eec715b-37f0-4982-b472-0dba3cec3a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0B9F78B-49A0-4AC4-B69C-253791D4CE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TotalTime>
  <Words>492</Words>
  <Application>Microsoft Office PowerPoint</Application>
  <PresentationFormat>Widescreen</PresentationFormat>
  <Paragraphs>17</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UML</vt:lpstr>
      <vt:lpstr>Data Flow Diagram (DFD)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UML</dc:title>
  <dc:creator>Dr. Manmohan Sharma [MU - Jaipur]</dc:creator>
  <cp:lastModifiedBy>Bali Devi [MU - Jaipur]</cp:lastModifiedBy>
  <cp:revision>11</cp:revision>
  <dcterms:created xsi:type="dcterms:W3CDTF">2023-02-17T03:38:11Z</dcterms:created>
  <dcterms:modified xsi:type="dcterms:W3CDTF">2024-02-19T08:09:24Z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0x0101001F9A2088A52B0C4EA8BDD03B81234123</vt:lpwstr>
  </property>
</Properties>
</file>